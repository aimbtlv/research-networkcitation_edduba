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7"/>
    <p:restoredTop sz="94610"/>
  </p:normalViewPr>
  <p:slideViewPr>
    <p:cSldViewPr snapToGrid="0" snapToObjects="1">
      <p:cViewPr varScale="1">
        <p:scale>
          <a:sx n="118" d="100"/>
          <a:sy n="118" d="100"/>
        </p:scale>
        <p:origin x="21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800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AimBtlv/research-NetworkCitation_Edduba.git"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6922A"/>
          </a:solidFill>
          <a:ln w="12700">
            <a:solidFill>
              <a:srgbClr val="E6922A"/>
            </a:solidFill>
            <a:prstDash val="solid"/>
          </a:ln>
        </p:spPr>
      </p:sp>
      <p:sp>
        <p:nvSpPr>
          <p:cNvPr id="3" name="Shape 1"/>
          <p:cNvSpPr/>
          <p:nvPr/>
        </p:nvSpPr>
        <p:spPr>
          <a:xfrm>
            <a:off x="1005840" y="274320"/>
            <a:ext cx="164592" cy="164592"/>
          </a:xfrm>
          <a:prstGeom prst="ellipse">
            <a:avLst/>
          </a:prstGeom>
          <a:solidFill>
            <a:srgbClr val="E6922A">
              <a:alpha val="40000"/>
            </a:srgbClr>
          </a:solidFill>
          <a:ln w="12700">
            <a:solidFill>
              <a:srgbClr val="E6922A"/>
            </a:solidFill>
            <a:prstDash val="solid"/>
          </a:ln>
        </p:spPr>
      </p:sp>
      <p:sp>
        <p:nvSpPr>
          <p:cNvPr id="4" name="Shape 2"/>
          <p:cNvSpPr/>
          <p:nvPr/>
        </p:nvSpPr>
        <p:spPr>
          <a:xfrm>
            <a:off x="2468880" y="137160"/>
            <a:ext cx="164592" cy="164592"/>
          </a:xfrm>
          <a:prstGeom prst="ellipse">
            <a:avLst/>
          </a:prstGeom>
          <a:solidFill>
            <a:srgbClr val="E6922A">
              <a:alpha val="40000"/>
            </a:srgbClr>
          </a:solidFill>
          <a:ln w="12700">
            <a:solidFill>
              <a:srgbClr val="E6922A"/>
            </a:solidFill>
            <a:prstDash val="solid"/>
          </a:ln>
        </p:spPr>
      </p:sp>
      <p:sp>
        <p:nvSpPr>
          <p:cNvPr id="5" name="Shape 3"/>
          <p:cNvSpPr/>
          <p:nvPr/>
        </p:nvSpPr>
        <p:spPr>
          <a:xfrm>
            <a:off x="4023360" y="457200"/>
            <a:ext cx="164592" cy="164592"/>
          </a:xfrm>
          <a:prstGeom prst="ellipse">
            <a:avLst/>
          </a:prstGeom>
          <a:solidFill>
            <a:srgbClr val="E6922A">
              <a:alpha val="40000"/>
            </a:srgbClr>
          </a:solidFill>
          <a:ln w="12700">
            <a:solidFill>
              <a:srgbClr val="E6922A"/>
            </a:solidFill>
            <a:prstDash val="solid"/>
          </a:ln>
        </p:spPr>
      </p:sp>
      <p:sp>
        <p:nvSpPr>
          <p:cNvPr id="6" name="Shape 4"/>
          <p:cNvSpPr/>
          <p:nvPr/>
        </p:nvSpPr>
        <p:spPr>
          <a:xfrm>
            <a:off x="5394960" y="182880"/>
            <a:ext cx="164592" cy="164592"/>
          </a:xfrm>
          <a:prstGeom prst="ellipse">
            <a:avLst/>
          </a:prstGeom>
          <a:solidFill>
            <a:srgbClr val="E6922A">
              <a:alpha val="40000"/>
            </a:srgbClr>
          </a:solidFill>
          <a:ln w="12700">
            <a:solidFill>
              <a:srgbClr val="E6922A"/>
            </a:solidFill>
            <a:prstDash val="solid"/>
          </a:ln>
        </p:spPr>
      </p:sp>
      <p:sp>
        <p:nvSpPr>
          <p:cNvPr id="7" name="Shape 5"/>
          <p:cNvSpPr/>
          <p:nvPr/>
        </p:nvSpPr>
        <p:spPr>
          <a:xfrm>
            <a:off x="7040880" y="365760"/>
            <a:ext cx="164592" cy="164592"/>
          </a:xfrm>
          <a:prstGeom prst="ellipse">
            <a:avLst/>
          </a:prstGeom>
          <a:solidFill>
            <a:srgbClr val="E6922A">
              <a:alpha val="40000"/>
            </a:srgbClr>
          </a:solidFill>
          <a:ln w="12700">
            <a:solidFill>
              <a:srgbClr val="E6922A"/>
            </a:solidFill>
            <a:prstDash val="solid"/>
          </a:ln>
        </p:spPr>
      </p:sp>
      <p:sp>
        <p:nvSpPr>
          <p:cNvPr id="8" name="Shape 6"/>
          <p:cNvSpPr/>
          <p:nvPr/>
        </p:nvSpPr>
        <p:spPr>
          <a:xfrm>
            <a:off x="8321040" y="274320"/>
            <a:ext cx="164592" cy="164592"/>
          </a:xfrm>
          <a:prstGeom prst="ellipse">
            <a:avLst/>
          </a:prstGeom>
          <a:solidFill>
            <a:srgbClr val="E6922A">
              <a:alpha val="40000"/>
            </a:srgbClr>
          </a:solidFill>
          <a:ln w="12700">
            <a:solidFill>
              <a:srgbClr val="E6922A"/>
            </a:solidFill>
            <a:prstDash val="solid"/>
          </a:ln>
        </p:spPr>
      </p:sp>
      <p:sp>
        <p:nvSpPr>
          <p:cNvPr id="9" name="Text 7"/>
          <p:cNvSpPr/>
          <p:nvPr/>
        </p:nvSpPr>
        <p:spPr>
          <a:xfrm>
            <a:off x="457200" y="1097280"/>
            <a:ext cx="8412480" cy="1005840"/>
          </a:xfrm>
          <a:prstGeom prst="rect">
            <a:avLst/>
          </a:prstGeom>
          <a:noFill/>
          <a:ln/>
        </p:spPr>
        <p:txBody>
          <a:bodyPr wrap="square" rtlCol="0" anchor="ctr"/>
          <a:lstStyle/>
          <a:p>
            <a:pPr marL="0" indent="0" algn="l">
              <a:buNone/>
            </a:pPr>
            <a:r>
              <a:rPr lang="en-US" sz="4800" b="1" dirty="0">
                <a:solidFill>
                  <a:srgbClr val="FFFFFF"/>
                </a:solidFill>
                <a:latin typeface="Georgia" pitchFamily="34" charset="0"/>
                <a:ea typeface="Georgia" pitchFamily="34" charset="-122"/>
                <a:cs typeface="Georgia" pitchFamily="34" charset="-120"/>
              </a:rPr>
              <a:t>Network Citation</a:t>
            </a:r>
            <a:endParaRPr lang="en-US" sz="4800" dirty="0"/>
          </a:p>
        </p:txBody>
      </p:sp>
      <p:sp>
        <p:nvSpPr>
          <p:cNvPr id="10" name="Text 8"/>
          <p:cNvSpPr/>
          <p:nvPr/>
        </p:nvSpPr>
        <p:spPr>
          <a:xfrm>
            <a:off x="457200" y="2103120"/>
            <a:ext cx="8229600" cy="640080"/>
          </a:xfrm>
          <a:prstGeom prst="rect">
            <a:avLst/>
          </a:prstGeom>
          <a:noFill/>
          <a:ln/>
        </p:spPr>
        <p:txBody>
          <a:bodyPr wrap="square" rtlCol="0" anchor="ctr"/>
          <a:lstStyle/>
          <a:p>
            <a:pPr marL="0" indent="0" algn="l">
              <a:buNone/>
            </a:pPr>
            <a:r>
              <a:rPr lang="en-US" sz="2000" i="1" dirty="0">
                <a:solidFill>
                  <a:srgbClr val="E6922A"/>
                </a:solidFill>
                <a:latin typeface="Georgia" pitchFamily="34" charset="0"/>
                <a:ea typeface="Georgia" pitchFamily="34" charset="-122"/>
                <a:cs typeface="Georgia" pitchFamily="34" charset="-120"/>
              </a:rPr>
              <a:t>Visualising Bibliographic Citation Networks in Edubba Studies</a:t>
            </a:r>
            <a:endParaRPr lang="en-US" sz="2000" dirty="0"/>
          </a:p>
        </p:txBody>
      </p:sp>
      <p:sp>
        <p:nvSpPr>
          <p:cNvPr id="11" name="Shape 9"/>
          <p:cNvSpPr/>
          <p:nvPr/>
        </p:nvSpPr>
        <p:spPr>
          <a:xfrm>
            <a:off x="457200" y="2834640"/>
            <a:ext cx="4114800" cy="36576"/>
          </a:xfrm>
          <a:prstGeom prst="rect">
            <a:avLst/>
          </a:prstGeom>
          <a:solidFill>
            <a:srgbClr val="E6922A"/>
          </a:solidFill>
          <a:ln w="12700">
            <a:solidFill>
              <a:srgbClr val="E6922A"/>
            </a:solidFill>
            <a:prstDash val="solid"/>
          </a:ln>
        </p:spPr>
      </p:sp>
      <p:sp>
        <p:nvSpPr>
          <p:cNvPr id="12" name="Text 10"/>
          <p:cNvSpPr/>
          <p:nvPr/>
        </p:nvSpPr>
        <p:spPr>
          <a:xfrm>
            <a:off x="457200" y="2971800"/>
            <a:ext cx="8229600" cy="274320"/>
          </a:xfrm>
          <a:prstGeom prst="rect">
            <a:avLst/>
          </a:prstGeom>
          <a:noFill/>
          <a:ln/>
        </p:spPr>
        <p:txBody>
          <a:bodyPr wrap="square" rtlCol="0" anchor="ctr"/>
          <a:lstStyle/>
          <a:p>
            <a:pPr marL="0" indent="0">
              <a:buNone/>
            </a:pPr>
            <a:r>
              <a:rPr lang="en-US" sz="1200" b="1" dirty="0">
                <a:solidFill>
                  <a:srgbClr val="D1D5DB"/>
                </a:solidFill>
                <a:latin typeface="Calibri" pitchFamily="34" charset="0"/>
                <a:ea typeface="Calibri" pitchFamily="34" charset="-122"/>
                <a:cs typeface="Calibri" pitchFamily="34" charset="-120"/>
              </a:rPr>
              <a:t>Aim Batalova</a:t>
            </a:r>
            <a:r>
              <a:rPr lang="en-US" sz="1200" dirty="0">
                <a:solidFill>
                  <a:srgbClr val="D1D5DB"/>
                </a:solidFill>
                <a:latin typeface="Calibri" pitchFamily="34" charset="0"/>
                <a:ea typeface="Calibri" pitchFamily="34" charset="-122"/>
                <a:cs typeface="Calibri" pitchFamily="34" charset="-120"/>
              </a:rPr>
              <a:t>  |  Master's in Digital &amp; Public Humanities</a:t>
            </a:r>
            <a:endParaRPr lang="en-US" sz="1200" dirty="0"/>
          </a:p>
        </p:txBody>
      </p:sp>
      <p:sp>
        <p:nvSpPr>
          <p:cNvPr id="13" name="Text 11"/>
          <p:cNvSpPr/>
          <p:nvPr/>
        </p:nvSpPr>
        <p:spPr>
          <a:xfrm>
            <a:off x="457200" y="3291840"/>
            <a:ext cx="8229600" cy="22860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Ca'Foscari University of Venice  ·  Information Visualization, Module 2  ·  May 2026</a:t>
            </a:r>
            <a:endParaRPr lang="en-US" sz="1000" dirty="0"/>
          </a:p>
        </p:txBody>
      </p:sp>
      <p:sp>
        <p:nvSpPr>
          <p:cNvPr id="14" name="Text 12"/>
          <p:cNvSpPr/>
          <p:nvPr/>
        </p:nvSpPr>
        <p:spPr>
          <a:xfrm>
            <a:off x="5486400" y="3886200"/>
            <a:ext cx="1188720" cy="50292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2,103</a:t>
            </a:r>
            <a:endParaRPr lang="en-US" sz="2000" dirty="0"/>
          </a:p>
        </p:txBody>
      </p:sp>
      <p:sp>
        <p:nvSpPr>
          <p:cNvPr id="15" name="Text 13"/>
          <p:cNvSpPr/>
          <p:nvPr/>
        </p:nvSpPr>
        <p:spPr>
          <a:xfrm>
            <a:off x="5486400" y="4389120"/>
            <a:ext cx="118872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Publications</a:t>
            </a:r>
            <a:endParaRPr lang="en-US" sz="800" dirty="0"/>
          </a:p>
        </p:txBody>
      </p:sp>
      <p:sp>
        <p:nvSpPr>
          <p:cNvPr id="16" name="Text 14"/>
          <p:cNvSpPr/>
          <p:nvPr/>
        </p:nvSpPr>
        <p:spPr>
          <a:xfrm>
            <a:off x="6766560" y="3886200"/>
            <a:ext cx="1188720" cy="50292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2,524</a:t>
            </a:r>
            <a:endParaRPr lang="en-US" sz="2000" dirty="0"/>
          </a:p>
        </p:txBody>
      </p:sp>
      <p:sp>
        <p:nvSpPr>
          <p:cNvPr id="17" name="Text 15"/>
          <p:cNvSpPr/>
          <p:nvPr/>
        </p:nvSpPr>
        <p:spPr>
          <a:xfrm>
            <a:off x="6766560" y="4389120"/>
            <a:ext cx="118872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Citation Edges</a:t>
            </a:r>
            <a:endParaRPr lang="en-US" sz="800" dirty="0"/>
          </a:p>
        </p:txBody>
      </p:sp>
      <p:sp>
        <p:nvSpPr>
          <p:cNvPr id="18" name="Text 16"/>
          <p:cNvSpPr/>
          <p:nvPr/>
        </p:nvSpPr>
        <p:spPr>
          <a:xfrm>
            <a:off x="8046720" y="3886200"/>
            <a:ext cx="1188720" cy="50292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5</a:t>
            </a:r>
            <a:endParaRPr lang="en-US" sz="2000" dirty="0"/>
          </a:p>
        </p:txBody>
      </p:sp>
      <p:sp>
        <p:nvSpPr>
          <p:cNvPr id="19" name="Text 17"/>
          <p:cNvSpPr/>
          <p:nvPr/>
        </p:nvSpPr>
        <p:spPr>
          <a:xfrm>
            <a:off x="8046720" y="4389120"/>
            <a:ext cx="118872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Hypotheses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A1F2E"/>
                </a:solidFill>
                <a:latin typeface="Georgia" pitchFamily="34" charset="0"/>
                <a:ea typeface="Georgia" pitchFamily="34" charset="-122"/>
                <a:cs typeface="Georgia" pitchFamily="34" charset="-120"/>
              </a:rPr>
              <a:t>Presentation Structure</a:t>
            </a:r>
            <a:endParaRPr lang="en-US" sz="2800" dirty="0"/>
          </a:p>
        </p:txBody>
      </p:sp>
      <p:sp>
        <p:nvSpPr>
          <p:cNvPr id="3" name="Shape 1"/>
          <p:cNvSpPr/>
          <p:nvPr/>
        </p:nvSpPr>
        <p:spPr>
          <a:xfrm>
            <a:off x="365760" y="1051560"/>
            <a:ext cx="2606040" cy="137160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4" name="Shape 2"/>
          <p:cNvSpPr/>
          <p:nvPr/>
        </p:nvSpPr>
        <p:spPr>
          <a:xfrm>
            <a:off x="365760" y="1051560"/>
            <a:ext cx="2606040" cy="64008"/>
          </a:xfrm>
          <a:prstGeom prst="rect">
            <a:avLst/>
          </a:prstGeom>
          <a:solidFill>
            <a:srgbClr val="E6922A"/>
          </a:solidFill>
          <a:ln w="12700">
            <a:solidFill>
              <a:srgbClr val="E6922A"/>
            </a:solidFill>
            <a:prstDash val="solid"/>
          </a:ln>
        </p:spPr>
      </p:sp>
      <p:sp>
        <p:nvSpPr>
          <p:cNvPr id="5" name="Text 3"/>
          <p:cNvSpPr/>
          <p:nvPr/>
        </p:nvSpPr>
        <p:spPr>
          <a:xfrm>
            <a:off x="365760" y="1143000"/>
            <a:ext cx="2606040" cy="365760"/>
          </a:xfrm>
          <a:prstGeom prst="rect">
            <a:avLst/>
          </a:prstGeom>
          <a:noFill/>
          <a:ln/>
        </p:spPr>
        <p:txBody>
          <a:bodyPr wrap="square" rtlCol="0" anchor="ctr"/>
          <a:lstStyle/>
          <a:p>
            <a:pPr marL="0" indent="0" algn="ctr">
              <a:buNone/>
            </a:pPr>
            <a:r>
              <a:rPr lang="en-US" sz="2200" b="1" dirty="0">
                <a:solidFill>
                  <a:srgbClr val="E6922A"/>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457200" y="1508760"/>
            <a:ext cx="2423160" cy="365760"/>
          </a:xfrm>
          <a:prstGeom prst="rect">
            <a:avLst/>
          </a:prstGeom>
          <a:noFill/>
          <a:ln/>
        </p:spPr>
        <p:txBody>
          <a:bodyPr wrap="square"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Introduction &amp; Problem</a:t>
            </a:r>
            <a:endParaRPr lang="en-US" sz="1300" dirty="0"/>
          </a:p>
        </p:txBody>
      </p:sp>
      <p:sp>
        <p:nvSpPr>
          <p:cNvPr id="7" name="Text 5"/>
          <p:cNvSpPr/>
          <p:nvPr/>
        </p:nvSpPr>
        <p:spPr>
          <a:xfrm>
            <a:off x="457200" y="1874520"/>
            <a:ext cx="2423160" cy="41148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Edubba schools · Why network analysis?</a:t>
            </a:r>
            <a:endParaRPr lang="en-US" sz="900" dirty="0"/>
          </a:p>
        </p:txBody>
      </p:sp>
      <p:sp>
        <p:nvSpPr>
          <p:cNvPr id="8" name="Shape 6"/>
          <p:cNvSpPr/>
          <p:nvPr/>
        </p:nvSpPr>
        <p:spPr>
          <a:xfrm>
            <a:off x="3200400" y="1051560"/>
            <a:ext cx="2606040" cy="137160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9" name="Shape 7"/>
          <p:cNvSpPr/>
          <p:nvPr/>
        </p:nvSpPr>
        <p:spPr>
          <a:xfrm>
            <a:off x="3200400" y="1051560"/>
            <a:ext cx="2606040" cy="64008"/>
          </a:xfrm>
          <a:prstGeom prst="rect">
            <a:avLst/>
          </a:prstGeom>
          <a:solidFill>
            <a:srgbClr val="E6922A"/>
          </a:solidFill>
          <a:ln w="12700">
            <a:solidFill>
              <a:srgbClr val="E6922A"/>
            </a:solidFill>
            <a:prstDash val="solid"/>
          </a:ln>
        </p:spPr>
      </p:sp>
      <p:sp>
        <p:nvSpPr>
          <p:cNvPr id="10" name="Text 8"/>
          <p:cNvSpPr/>
          <p:nvPr/>
        </p:nvSpPr>
        <p:spPr>
          <a:xfrm>
            <a:off x="3200400" y="1143000"/>
            <a:ext cx="2606040" cy="365760"/>
          </a:xfrm>
          <a:prstGeom prst="rect">
            <a:avLst/>
          </a:prstGeom>
          <a:noFill/>
          <a:ln/>
        </p:spPr>
        <p:txBody>
          <a:bodyPr wrap="square" rtlCol="0" anchor="ctr"/>
          <a:lstStyle/>
          <a:p>
            <a:pPr marL="0" indent="0" algn="ctr">
              <a:buNone/>
            </a:pPr>
            <a:r>
              <a:rPr lang="en-US" sz="2200" b="1" dirty="0">
                <a:solidFill>
                  <a:srgbClr val="E6922A"/>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3291840" y="1508760"/>
            <a:ext cx="2423160" cy="365760"/>
          </a:xfrm>
          <a:prstGeom prst="rect">
            <a:avLst/>
          </a:prstGeom>
          <a:noFill/>
          <a:ln/>
        </p:spPr>
        <p:txBody>
          <a:bodyPr wrap="square"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Data &amp; Methods</a:t>
            </a:r>
            <a:endParaRPr lang="en-US" sz="1300" dirty="0"/>
          </a:p>
        </p:txBody>
      </p:sp>
      <p:sp>
        <p:nvSpPr>
          <p:cNvPr id="12" name="Text 10"/>
          <p:cNvSpPr/>
          <p:nvPr/>
        </p:nvSpPr>
        <p:spPr>
          <a:xfrm>
            <a:off x="3291840" y="1874520"/>
            <a:ext cx="2423160" cy="41148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2,103 sources · Step-Distance Model · Pipeline</a:t>
            </a:r>
            <a:endParaRPr lang="en-US" sz="900" dirty="0"/>
          </a:p>
        </p:txBody>
      </p:sp>
      <p:sp>
        <p:nvSpPr>
          <p:cNvPr id="13" name="Shape 11"/>
          <p:cNvSpPr/>
          <p:nvPr/>
        </p:nvSpPr>
        <p:spPr>
          <a:xfrm>
            <a:off x="6035040" y="1051560"/>
            <a:ext cx="2606040" cy="137160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4" name="Shape 12"/>
          <p:cNvSpPr/>
          <p:nvPr/>
        </p:nvSpPr>
        <p:spPr>
          <a:xfrm>
            <a:off x="6035040" y="1051560"/>
            <a:ext cx="2606040" cy="64008"/>
          </a:xfrm>
          <a:prstGeom prst="rect">
            <a:avLst/>
          </a:prstGeom>
          <a:solidFill>
            <a:srgbClr val="E6922A"/>
          </a:solidFill>
          <a:ln w="12700">
            <a:solidFill>
              <a:srgbClr val="E6922A"/>
            </a:solidFill>
            <a:prstDash val="solid"/>
          </a:ln>
        </p:spPr>
      </p:sp>
      <p:sp>
        <p:nvSpPr>
          <p:cNvPr id="15" name="Text 13"/>
          <p:cNvSpPr/>
          <p:nvPr/>
        </p:nvSpPr>
        <p:spPr>
          <a:xfrm>
            <a:off x="6035040" y="1143000"/>
            <a:ext cx="2606040" cy="365760"/>
          </a:xfrm>
          <a:prstGeom prst="rect">
            <a:avLst/>
          </a:prstGeom>
          <a:noFill/>
          <a:ln/>
        </p:spPr>
        <p:txBody>
          <a:bodyPr wrap="square" rtlCol="0" anchor="ctr"/>
          <a:lstStyle/>
          <a:p>
            <a:pPr marL="0" indent="0" algn="ctr">
              <a:buNone/>
            </a:pPr>
            <a:r>
              <a:rPr lang="en-US" sz="2200" b="1" dirty="0">
                <a:solidFill>
                  <a:srgbClr val="E6922A"/>
                </a:solidFill>
                <a:latin typeface="Georgia" pitchFamily="34" charset="0"/>
                <a:ea typeface="Georgia" pitchFamily="34" charset="-122"/>
                <a:cs typeface="Georgia" pitchFamily="34" charset="-120"/>
              </a:rPr>
              <a:t>03</a:t>
            </a:r>
            <a:endParaRPr lang="en-US" sz="2200" dirty="0"/>
          </a:p>
        </p:txBody>
      </p:sp>
      <p:sp>
        <p:nvSpPr>
          <p:cNvPr id="16" name="Text 14"/>
          <p:cNvSpPr/>
          <p:nvPr/>
        </p:nvSpPr>
        <p:spPr>
          <a:xfrm>
            <a:off x="6126480" y="1508760"/>
            <a:ext cx="2423160" cy="365760"/>
          </a:xfrm>
          <a:prstGeom prst="rect">
            <a:avLst/>
          </a:prstGeom>
          <a:noFill/>
          <a:ln/>
        </p:spPr>
        <p:txBody>
          <a:bodyPr wrap="square"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RQ &amp; Hypotheses</a:t>
            </a:r>
            <a:endParaRPr lang="en-US" sz="1300" dirty="0"/>
          </a:p>
        </p:txBody>
      </p:sp>
      <p:sp>
        <p:nvSpPr>
          <p:cNvPr id="17" name="Text 15"/>
          <p:cNvSpPr/>
          <p:nvPr/>
        </p:nvSpPr>
        <p:spPr>
          <a:xfrm>
            <a:off x="6126480" y="1874520"/>
            <a:ext cx="2423160" cy="41148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2 research questions · 5 hypotheses</a:t>
            </a:r>
            <a:endParaRPr lang="en-US" sz="900" dirty="0"/>
          </a:p>
        </p:txBody>
      </p:sp>
      <p:sp>
        <p:nvSpPr>
          <p:cNvPr id="18" name="Shape 16"/>
          <p:cNvSpPr/>
          <p:nvPr/>
        </p:nvSpPr>
        <p:spPr>
          <a:xfrm>
            <a:off x="365760" y="2743200"/>
            <a:ext cx="2606040" cy="137160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9" name="Shape 17"/>
          <p:cNvSpPr/>
          <p:nvPr/>
        </p:nvSpPr>
        <p:spPr>
          <a:xfrm>
            <a:off x="365760" y="2743200"/>
            <a:ext cx="2606040" cy="64008"/>
          </a:xfrm>
          <a:prstGeom prst="rect">
            <a:avLst/>
          </a:prstGeom>
          <a:solidFill>
            <a:srgbClr val="E6922A"/>
          </a:solidFill>
          <a:ln w="12700">
            <a:solidFill>
              <a:srgbClr val="E6922A"/>
            </a:solidFill>
            <a:prstDash val="solid"/>
          </a:ln>
        </p:spPr>
      </p:sp>
      <p:sp>
        <p:nvSpPr>
          <p:cNvPr id="20" name="Text 18"/>
          <p:cNvSpPr/>
          <p:nvPr/>
        </p:nvSpPr>
        <p:spPr>
          <a:xfrm>
            <a:off x="365760" y="2834640"/>
            <a:ext cx="2606040" cy="365760"/>
          </a:xfrm>
          <a:prstGeom prst="rect">
            <a:avLst/>
          </a:prstGeom>
          <a:noFill/>
          <a:ln/>
        </p:spPr>
        <p:txBody>
          <a:bodyPr wrap="square" rtlCol="0" anchor="ctr"/>
          <a:lstStyle/>
          <a:p>
            <a:pPr marL="0" indent="0" algn="ctr">
              <a:buNone/>
            </a:pPr>
            <a:r>
              <a:rPr lang="en-US" sz="2200" b="1" dirty="0">
                <a:solidFill>
                  <a:srgbClr val="E6922A"/>
                </a:solidFill>
                <a:latin typeface="Georgia" pitchFamily="34" charset="0"/>
                <a:ea typeface="Georgia" pitchFamily="34" charset="-122"/>
                <a:cs typeface="Georgia" pitchFamily="34" charset="-120"/>
              </a:rPr>
              <a:t>04</a:t>
            </a:r>
            <a:endParaRPr lang="en-US" sz="2200" dirty="0"/>
          </a:p>
        </p:txBody>
      </p:sp>
      <p:sp>
        <p:nvSpPr>
          <p:cNvPr id="21" name="Text 19"/>
          <p:cNvSpPr/>
          <p:nvPr/>
        </p:nvSpPr>
        <p:spPr>
          <a:xfrm>
            <a:off x="457200" y="3200400"/>
            <a:ext cx="2423160" cy="365760"/>
          </a:xfrm>
          <a:prstGeom prst="rect">
            <a:avLst/>
          </a:prstGeom>
          <a:noFill/>
          <a:ln/>
        </p:spPr>
        <p:txBody>
          <a:bodyPr wrap="square"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Results H1–H5</a:t>
            </a:r>
            <a:endParaRPr lang="en-US" sz="1300" dirty="0"/>
          </a:p>
        </p:txBody>
      </p:sp>
      <p:sp>
        <p:nvSpPr>
          <p:cNvPr id="22" name="Text 20"/>
          <p:cNvSpPr/>
          <p:nvPr/>
        </p:nvSpPr>
        <p:spPr>
          <a:xfrm>
            <a:off x="457200" y="3566160"/>
            <a:ext cx="2423160" cy="41148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5 visualizations · Design choices</a:t>
            </a:r>
            <a:endParaRPr lang="en-US" sz="900" dirty="0"/>
          </a:p>
        </p:txBody>
      </p:sp>
      <p:sp>
        <p:nvSpPr>
          <p:cNvPr id="23" name="Shape 21"/>
          <p:cNvSpPr/>
          <p:nvPr/>
        </p:nvSpPr>
        <p:spPr>
          <a:xfrm>
            <a:off x="3200400" y="2743200"/>
            <a:ext cx="2606040" cy="137160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24" name="Shape 22"/>
          <p:cNvSpPr/>
          <p:nvPr/>
        </p:nvSpPr>
        <p:spPr>
          <a:xfrm>
            <a:off x="3200400" y="2743200"/>
            <a:ext cx="2606040" cy="64008"/>
          </a:xfrm>
          <a:prstGeom prst="rect">
            <a:avLst/>
          </a:prstGeom>
          <a:solidFill>
            <a:srgbClr val="E6922A"/>
          </a:solidFill>
          <a:ln w="12700">
            <a:solidFill>
              <a:srgbClr val="E6922A"/>
            </a:solidFill>
            <a:prstDash val="solid"/>
          </a:ln>
        </p:spPr>
      </p:sp>
      <p:sp>
        <p:nvSpPr>
          <p:cNvPr id="25" name="Text 23"/>
          <p:cNvSpPr/>
          <p:nvPr/>
        </p:nvSpPr>
        <p:spPr>
          <a:xfrm>
            <a:off x="3200400" y="2834640"/>
            <a:ext cx="2606040" cy="365760"/>
          </a:xfrm>
          <a:prstGeom prst="rect">
            <a:avLst/>
          </a:prstGeom>
          <a:noFill/>
          <a:ln/>
        </p:spPr>
        <p:txBody>
          <a:bodyPr wrap="square" rtlCol="0" anchor="ctr"/>
          <a:lstStyle/>
          <a:p>
            <a:pPr marL="0" indent="0" algn="ctr">
              <a:buNone/>
            </a:pPr>
            <a:r>
              <a:rPr lang="en-US" sz="2200" b="1" dirty="0">
                <a:solidFill>
                  <a:srgbClr val="E6922A"/>
                </a:solidFill>
                <a:latin typeface="Georgia" pitchFamily="34" charset="0"/>
                <a:ea typeface="Georgia" pitchFamily="34" charset="-122"/>
                <a:cs typeface="Georgia" pitchFamily="34" charset="-120"/>
              </a:rPr>
              <a:t>05</a:t>
            </a:r>
            <a:endParaRPr lang="en-US" sz="2200" dirty="0"/>
          </a:p>
        </p:txBody>
      </p:sp>
      <p:sp>
        <p:nvSpPr>
          <p:cNvPr id="26" name="Text 24"/>
          <p:cNvSpPr/>
          <p:nvPr/>
        </p:nvSpPr>
        <p:spPr>
          <a:xfrm>
            <a:off x="3291840" y="3200400"/>
            <a:ext cx="2423160" cy="365760"/>
          </a:xfrm>
          <a:prstGeom prst="rect">
            <a:avLst/>
          </a:prstGeom>
          <a:noFill/>
          <a:ln/>
        </p:spPr>
        <p:txBody>
          <a:bodyPr wrap="square"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Conclusions &amp; Limitations</a:t>
            </a:r>
            <a:endParaRPr lang="en-US" sz="1300" dirty="0"/>
          </a:p>
        </p:txBody>
      </p:sp>
      <p:sp>
        <p:nvSpPr>
          <p:cNvPr id="27" name="Text 25"/>
          <p:cNvSpPr/>
          <p:nvPr/>
        </p:nvSpPr>
        <p:spPr>
          <a:xfrm>
            <a:off x="3291840" y="3566160"/>
            <a:ext cx="2423160" cy="41148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Findings · Future work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2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457200" y="731520"/>
            <a:ext cx="1828800" cy="1280160"/>
          </a:xfrm>
          <a:prstGeom prst="rect">
            <a:avLst/>
          </a:prstGeom>
          <a:noFill/>
          <a:ln/>
        </p:spPr>
        <p:txBody>
          <a:bodyPr wrap="square" rtlCol="0" anchor="ctr"/>
          <a:lstStyle/>
          <a:p>
            <a:pPr marL="0" indent="0">
              <a:buNone/>
            </a:pPr>
            <a:r>
              <a:rPr lang="en-US" sz="8000" b="1" dirty="0">
                <a:solidFill>
                  <a:srgbClr val="C0392B"/>
                </a:solidFill>
                <a:latin typeface="Georgia" pitchFamily="34" charset="0"/>
                <a:ea typeface="Georgia" pitchFamily="34" charset="-122"/>
                <a:cs typeface="Georgia" pitchFamily="34" charset="-120"/>
              </a:rPr>
              <a:t>01</a:t>
            </a:r>
            <a:endParaRPr lang="en-US" sz="8000" dirty="0"/>
          </a:p>
        </p:txBody>
      </p:sp>
      <p:sp>
        <p:nvSpPr>
          <p:cNvPr id="4" name="Text 2"/>
          <p:cNvSpPr/>
          <p:nvPr/>
        </p:nvSpPr>
        <p:spPr>
          <a:xfrm>
            <a:off x="457200" y="2011680"/>
            <a:ext cx="82296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Introduction</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&amp; Problem</a:t>
            </a:r>
            <a:endParaRPr lang="en-US" sz="3600" dirty="0"/>
          </a:p>
        </p:txBody>
      </p:sp>
      <p:sp>
        <p:nvSpPr>
          <p:cNvPr id="5" name="Text 3"/>
          <p:cNvSpPr/>
          <p:nvPr/>
        </p:nvSpPr>
        <p:spPr>
          <a:xfrm>
            <a:off x="457200" y="3429000"/>
            <a:ext cx="82296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Edubba schools · The knowledge gap · Why visualisation?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31" name="Shape 2">
            <a:extLst>
              <a:ext uri="{FF2B5EF4-FFF2-40B4-BE49-F238E27FC236}">
                <a16:creationId xmlns:a16="http://schemas.microsoft.com/office/drawing/2014/main" id="{952E33F8-BEE6-0548-91EC-031A0F4F2F1D}"/>
              </a:ext>
            </a:extLst>
          </p:cNvPr>
          <p:cNvSpPr/>
          <p:nvPr/>
        </p:nvSpPr>
        <p:spPr>
          <a:xfrm flipH="1">
            <a:off x="5943600" y="914400"/>
            <a:ext cx="91440" cy="1243584"/>
          </a:xfrm>
          <a:prstGeom prst="rect">
            <a:avLst/>
          </a:prstGeom>
          <a:solidFill>
            <a:srgbClr val="E6922A"/>
          </a:solidFill>
          <a:ln w="12700">
            <a:solidFill>
              <a:srgbClr val="E6922A"/>
            </a:solidFill>
            <a:prstDash val="solid"/>
          </a:ln>
        </p:spPr>
      </p:sp>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What is Edubba — and What is the Problem?</a:t>
            </a:r>
            <a:endParaRPr lang="en-US" sz="2200" dirty="0"/>
          </a:p>
        </p:txBody>
      </p:sp>
      <p:sp>
        <p:nvSpPr>
          <p:cNvPr id="3" name="Shape 1"/>
          <p:cNvSpPr/>
          <p:nvPr/>
        </p:nvSpPr>
        <p:spPr>
          <a:xfrm>
            <a:off x="365760" y="914400"/>
            <a:ext cx="5303520" cy="749808"/>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4" name="Shape 2"/>
          <p:cNvSpPr/>
          <p:nvPr/>
        </p:nvSpPr>
        <p:spPr>
          <a:xfrm>
            <a:off x="365760" y="914400"/>
            <a:ext cx="54864" cy="749808"/>
          </a:xfrm>
          <a:prstGeom prst="rect">
            <a:avLst/>
          </a:prstGeom>
          <a:solidFill>
            <a:srgbClr val="E6922A"/>
          </a:solidFill>
          <a:ln w="12700">
            <a:solidFill>
              <a:srgbClr val="E6922A"/>
            </a:solidFill>
            <a:prstDash val="solid"/>
          </a:ln>
        </p:spPr>
      </p:sp>
      <p:sp>
        <p:nvSpPr>
          <p:cNvPr id="5" name="Text 3"/>
          <p:cNvSpPr/>
          <p:nvPr/>
        </p:nvSpPr>
        <p:spPr>
          <a:xfrm>
            <a:off x="530352" y="987552"/>
            <a:ext cx="5074920" cy="603504"/>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Edubba</a:t>
            </a:r>
            <a:r>
              <a:rPr lang="en-US" sz="1150" dirty="0">
                <a:solidFill>
                  <a:srgbClr val="374151"/>
                </a:solidFill>
                <a:latin typeface="Calibri" pitchFamily="34" charset="0"/>
                <a:ea typeface="Calibri" pitchFamily="34" charset="-122"/>
                <a:cs typeface="Calibri" pitchFamily="34" charset="-120"/>
              </a:rPr>
              <a:t> — one of the earliest scribal schools, 2nd millennium BCE. Evidence of structured education.</a:t>
            </a:r>
            <a:endParaRPr lang="en-US" sz="1150" dirty="0"/>
          </a:p>
        </p:txBody>
      </p:sp>
      <p:sp>
        <p:nvSpPr>
          <p:cNvPr id="6" name="Shape 4"/>
          <p:cNvSpPr/>
          <p:nvPr/>
        </p:nvSpPr>
        <p:spPr>
          <a:xfrm>
            <a:off x="365760" y="1828800"/>
            <a:ext cx="5303520" cy="749808"/>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7" name="Shape 5"/>
          <p:cNvSpPr/>
          <p:nvPr/>
        </p:nvSpPr>
        <p:spPr>
          <a:xfrm>
            <a:off x="365760" y="1828800"/>
            <a:ext cx="54864" cy="749808"/>
          </a:xfrm>
          <a:prstGeom prst="rect">
            <a:avLst/>
          </a:prstGeom>
          <a:solidFill>
            <a:srgbClr val="E6922A"/>
          </a:solidFill>
          <a:ln w="12700">
            <a:solidFill>
              <a:srgbClr val="E6922A"/>
            </a:solidFill>
            <a:prstDash val="solid"/>
          </a:ln>
        </p:spPr>
      </p:sp>
      <p:sp>
        <p:nvSpPr>
          <p:cNvPr id="8" name="Text 6"/>
          <p:cNvSpPr/>
          <p:nvPr/>
        </p:nvSpPr>
        <p:spPr>
          <a:xfrm>
            <a:off x="530352" y="1901952"/>
            <a:ext cx="5074920" cy="603504"/>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The Problem:</a:t>
            </a:r>
            <a:r>
              <a:rPr lang="en-US" sz="1150" dirty="0">
                <a:solidFill>
                  <a:srgbClr val="374151"/>
                </a:solidFill>
                <a:latin typeface="Calibri" pitchFamily="34" charset="0"/>
                <a:ea typeface="Calibri" pitchFamily="34" charset="-122"/>
                <a:cs typeface="Calibri" pitchFamily="34" charset="-120"/>
              </a:rPr>
              <a:t> knowledge is fragmented. Lack of primary and reliable sources. Many interpretations and speculations.</a:t>
            </a:r>
            <a:endParaRPr lang="en-US" sz="1150" dirty="0"/>
          </a:p>
        </p:txBody>
      </p:sp>
      <p:sp>
        <p:nvSpPr>
          <p:cNvPr id="9" name="Shape 7"/>
          <p:cNvSpPr/>
          <p:nvPr/>
        </p:nvSpPr>
        <p:spPr>
          <a:xfrm>
            <a:off x="365760" y="2743200"/>
            <a:ext cx="5303520" cy="749808"/>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0" name="Shape 8"/>
          <p:cNvSpPr/>
          <p:nvPr/>
        </p:nvSpPr>
        <p:spPr>
          <a:xfrm>
            <a:off x="365760" y="2743200"/>
            <a:ext cx="54864" cy="749808"/>
          </a:xfrm>
          <a:prstGeom prst="rect">
            <a:avLst/>
          </a:prstGeom>
          <a:solidFill>
            <a:srgbClr val="E6922A"/>
          </a:solidFill>
          <a:ln w="12700">
            <a:solidFill>
              <a:srgbClr val="E6922A"/>
            </a:solidFill>
            <a:prstDash val="solid"/>
          </a:ln>
        </p:spPr>
      </p:sp>
      <p:sp>
        <p:nvSpPr>
          <p:cNvPr id="11" name="Text 9"/>
          <p:cNvSpPr/>
          <p:nvPr/>
        </p:nvSpPr>
        <p:spPr>
          <a:xfrm>
            <a:off x="530352" y="2816352"/>
            <a:ext cx="5074920" cy="603504"/>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The Target:</a:t>
            </a:r>
            <a:r>
              <a:rPr lang="en-US" sz="1150" dirty="0">
                <a:solidFill>
                  <a:srgbClr val="374151"/>
                </a:solidFill>
                <a:latin typeface="Calibri" pitchFamily="34" charset="0"/>
                <a:ea typeface="Calibri" pitchFamily="34" charset="-122"/>
                <a:cs typeface="Calibri" pitchFamily="34" charset="-120"/>
              </a:rPr>
              <a:t> analyse how scholarly knowledge about Edubba is structurally organised and transmitted within academic citation networks.</a:t>
            </a:r>
            <a:endParaRPr lang="en-US" sz="1150" dirty="0"/>
          </a:p>
        </p:txBody>
      </p:sp>
      <p:sp>
        <p:nvSpPr>
          <p:cNvPr id="12" name="Shape 10"/>
          <p:cNvSpPr/>
          <p:nvPr/>
        </p:nvSpPr>
        <p:spPr>
          <a:xfrm>
            <a:off x="365760" y="3657600"/>
            <a:ext cx="5303520" cy="749808"/>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3" name="Shape 11"/>
          <p:cNvSpPr/>
          <p:nvPr/>
        </p:nvSpPr>
        <p:spPr>
          <a:xfrm>
            <a:off x="365760" y="3657600"/>
            <a:ext cx="54864" cy="749808"/>
          </a:xfrm>
          <a:prstGeom prst="rect">
            <a:avLst/>
          </a:prstGeom>
          <a:solidFill>
            <a:srgbClr val="E6922A"/>
          </a:solidFill>
          <a:ln w="12700">
            <a:solidFill>
              <a:srgbClr val="E6922A"/>
            </a:solidFill>
            <a:prstDash val="solid"/>
          </a:ln>
        </p:spPr>
      </p:sp>
      <p:sp>
        <p:nvSpPr>
          <p:cNvPr id="14" name="Text 12"/>
          <p:cNvSpPr/>
          <p:nvPr/>
        </p:nvSpPr>
        <p:spPr>
          <a:xfrm>
            <a:off x="530352" y="3730752"/>
            <a:ext cx="5074920" cy="603504"/>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Approach:</a:t>
            </a:r>
            <a:r>
              <a:rPr lang="en-US" sz="1150" dirty="0">
                <a:solidFill>
                  <a:srgbClr val="374151"/>
                </a:solidFill>
                <a:latin typeface="Calibri" pitchFamily="34" charset="0"/>
                <a:ea typeface="Calibri" pitchFamily="34" charset="-122"/>
                <a:cs typeface="Calibri" pitchFamily="34" charset="-120"/>
              </a:rPr>
              <a:t> 2,103 publications modelled as a directed citation network. Visual analytics reveals hidden epistemic structures.</a:t>
            </a:r>
            <a:endParaRPr lang="en-US" sz="1150" dirty="0"/>
          </a:p>
        </p:txBody>
      </p:sp>
      <p:sp>
        <p:nvSpPr>
          <p:cNvPr id="16" name="Text 14"/>
          <p:cNvSpPr/>
          <p:nvPr/>
        </p:nvSpPr>
        <p:spPr>
          <a:xfrm>
            <a:off x="6172200" y="914401"/>
            <a:ext cx="2697480" cy="749808"/>
          </a:xfrm>
          <a:prstGeom prst="rect">
            <a:avLst/>
          </a:prstGeom>
          <a:noFill/>
          <a:ln/>
        </p:spPr>
        <p:txBody>
          <a:bodyPr wrap="square" rtlCol="0" anchor="ctr"/>
          <a:lstStyle/>
          <a:p>
            <a:endParaRPr lang="en-US" sz="1100" dirty="0"/>
          </a:p>
        </p:txBody>
      </p:sp>
      <p:sp>
        <p:nvSpPr>
          <p:cNvPr id="22" name="Text 20"/>
          <p:cNvSpPr/>
          <p:nvPr/>
        </p:nvSpPr>
        <p:spPr>
          <a:xfrm>
            <a:off x="6172200" y="2157984"/>
            <a:ext cx="822960" cy="320040"/>
          </a:xfrm>
          <a:prstGeom prst="rect">
            <a:avLst/>
          </a:prstGeom>
          <a:noFill/>
          <a:ln/>
        </p:spPr>
        <p:txBody>
          <a:bodyPr wrap="square" rtlCol="0" anchor="ctr"/>
          <a:lstStyle/>
          <a:p>
            <a:pPr marL="0" indent="0" algn="ctr">
              <a:buNone/>
            </a:pPr>
            <a:endParaRPr lang="en-US" sz="700" dirty="0"/>
          </a:p>
        </p:txBody>
      </p:sp>
      <p:sp>
        <p:nvSpPr>
          <p:cNvPr id="24" name="Text 22"/>
          <p:cNvSpPr/>
          <p:nvPr/>
        </p:nvSpPr>
        <p:spPr>
          <a:xfrm>
            <a:off x="6995160" y="1801368"/>
            <a:ext cx="822960" cy="320040"/>
          </a:xfrm>
          <a:prstGeom prst="rect">
            <a:avLst/>
          </a:prstGeom>
          <a:noFill/>
          <a:ln/>
        </p:spPr>
        <p:txBody>
          <a:bodyPr wrap="square" rtlCol="0" anchor="ctr"/>
          <a:lstStyle/>
          <a:p>
            <a:pPr marL="0" indent="0" algn="ctr">
              <a:buNone/>
            </a:pPr>
            <a:endParaRPr lang="en-US" sz="700" dirty="0"/>
          </a:p>
        </p:txBody>
      </p:sp>
      <p:sp>
        <p:nvSpPr>
          <p:cNvPr id="26" name="Text 24"/>
          <p:cNvSpPr/>
          <p:nvPr/>
        </p:nvSpPr>
        <p:spPr>
          <a:xfrm>
            <a:off x="7726680" y="2395728"/>
            <a:ext cx="822960" cy="320040"/>
          </a:xfrm>
          <a:prstGeom prst="rect">
            <a:avLst/>
          </a:prstGeom>
          <a:noFill/>
          <a:ln/>
        </p:spPr>
        <p:txBody>
          <a:bodyPr wrap="square" rtlCol="0" anchor="ctr"/>
          <a:lstStyle/>
          <a:p>
            <a:pPr marL="0" indent="0" algn="ctr">
              <a:buNone/>
            </a:pPr>
            <a:endParaRPr lang="en-US" sz="700" dirty="0"/>
          </a:p>
        </p:txBody>
      </p:sp>
      <p:sp>
        <p:nvSpPr>
          <p:cNvPr id="30" name="Text 28"/>
          <p:cNvSpPr/>
          <p:nvPr/>
        </p:nvSpPr>
        <p:spPr>
          <a:xfrm>
            <a:off x="365760" y="4800600"/>
            <a:ext cx="8412480" cy="228600"/>
          </a:xfrm>
          <a:prstGeom prst="rect">
            <a:avLst/>
          </a:prstGeom>
          <a:noFill/>
          <a:ln/>
        </p:spPr>
        <p:txBody>
          <a:bodyPr wrap="square"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Ca'Foscari University of Venice ·  2026</a:t>
            </a:r>
            <a:endParaRPr lang="en-US" sz="800" dirty="0"/>
          </a:p>
        </p:txBody>
      </p:sp>
      <p:pic>
        <p:nvPicPr>
          <p:cNvPr id="33" name="Picture 32">
            <a:extLst>
              <a:ext uri="{FF2B5EF4-FFF2-40B4-BE49-F238E27FC236}">
                <a16:creationId xmlns:a16="http://schemas.microsoft.com/office/drawing/2014/main" id="{66E17832-34D7-A342-B1C8-374F78299E4B}"/>
              </a:ext>
            </a:extLst>
          </p:cNvPr>
          <p:cNvPicPr>
            <a:picLocks noChangeAspect="1"/>
          </p:cNvPicPr>
          <p:nvPr/>
        </p:nvPicPr>
        <p:blipFill>
          <a:blip r:embed="rId3"/>
          <a:stretch>
            <a:fillRect/>
          </a:stretch>
        </p:blipFill>
        <p:spPr>
          <a:xfrm>
            <a:off x="5943600" y="2395728"/>
            <a:ext cx="2944368" cy="2048255"/>
          </a:xfrm>
          <a:prstGeom prst="rect">
            <a:avLst/>
          </a:prstGeom>
          <a:effectLst>
            <a:outerShdw blurRad="63500" dist="50800" dir="5400000" sx="104000" sy="104000" algn="ctr" rotWithShape="0">
              <a:srgbClr val="000000">
                <a:alpha val="44000"/>
              </a:srgbClr>
            </a:outerShdw>
            <a:reflection endPos="0" dist="50800" dir="5400000" sy="-100000" algn="bl" rotWithShape="0"/>
          </a:effectLst>
        </p:spPr>
      </p:pic>
      <p:sp>
        <p:nvSpPr>
          <p:cNvPr id="35" name="Shape 7">
            <a:extLst>
              <a:ext uri="{FF2B5EF4-FFF2-40B4-BE49-F238E27FC236}">
                <a16:creationId xmlns:a16="http://schemas.microsoft.com/office/drawing/2014/main" id="{921AA6DB-A6BA-324A-81F6-9042039C8D80}"/>
              </a:ext>
            </a:extLst>
          </p:cNvPr>
          <p:cNvSpPr/>
          <p:nvPr/>
        </p:nvSpPr>
        <p:spPr>
          <a:xfrm>
            <a:off x="5925312" y="914399"/>
            <a:ext cx="2962656" cy="1281770"/>
          </a:xfrm>
          <a:prstGeom prst="rect">
            <a:avLst/>
          </a:prstGeom>
          <a:solidFill>
            <a:srgbClr val="FFFFFF"/>
          </a:solidFill>
          <a:ln w="19050">
            <a:solidFill>
              <a:schemeClr val="accent2"/>
            </a:solidFill>
            <a:prstDash val="solid"/>
          </a:ln>
          <a:effectLst>
            <a:outerShdw blurRad="101600" dist="38100" dir="8100000" algn="bl" rotWithShape="0">
              <a:srgbClr val="000000">
                <a:alpha val="12000"/>
              </a:srgbClr>
            </a:outerShdw>
          </a:effectLst>
        </p:spPr>
      </p:sp>
      <p:sp>
        <p:nvSpPr>
          <p:cNvPr id="34" name="Rectangle 33">
            <a:extLst>
              <a:ext uri="{FF2B5EF4-FFF2-40B4-BE49-F238E27FC236}">
                <a16:creationId xmlns:a16="http://schemas.microsoft.com/office/drawing/2014/main" id="{79D15C1E-5785-2442-9685-39B7F17C2538}"/>
              </a:ext>
            </a:extLst>
          </p:cNvPr>
          <p:cNvSpPr/>
          <p:nvPr/>
        </p:nvSpPr>
        <p:spPr>
          <a:xfrm>
            <a:off x="6035040" y="943516"/>
            <a:ext cx="2743200" cy="1277273"/>
          </a:xfrm>
          <a:prstGeom prst="rect">
            <a:avLst/>
          </a:prstGeom>
        </p:spPr>
        <p:txBody>
          <a:bodyPr wrap="square">
            <a:spAutoFit/>
          </a:bodyPr>
          <a:lstStyle/>
          <a:p>
            <a:r>
              <a:rPr lang="en-US" sz="1100" dirty="0"/>
              <a:t>This project approaches the research questions through information </a:t>
            </a:r>
            <a:r>
              <a:rPr lang="en-US" sz="1100" dirty="0" err="1"/>
              <a:t>visualisation</a:t>
            </a:r>
            <a:r>
              <a:rPr lang="en-US" sz="1100" dirty="0"/>
              <a:t>: citation relationships are encoded as a directed network, and visual analytics — node layout, </a:t>
            </a:r>
            <a:r>
              <a:rPr lang="en-US" sz="1100" dirty="0" err="1"/>
              <a:t>colour</a:t>
            </a:r>
            <a:r>
              <a:rPr lang="en-US" sz="1100" dirty="0"/>
              <a:t>, and centrality — reveal epistemic structures not accessible through linear reading.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2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6922A"/>
          </a:solidFill>
          <a:ln w="12700">
            <a:solidFill>
              <a:srgbClr val="E6922A"/>
            </a:solidFill>
            <a:prstDash val="solid"/>
          </a:ln>
        </p:spPr>
      </p:sp>
      <p:sp>
        <p:nvSpPr>
          <p:cNvPr id="3" name="Text 1"/>
          <p:cNvSpPr/>
          <p:nvPr/>
        </p:nvSpPr>
        <p:spPr>
          <a:xfrm>
            <a:off x="457200" y="731520"/>
            <a:ext cx="1828800" cy="1280160"/>
          </a:xfrm>
          <a:prstGeom prst="rect">
            <a:avLst/>
          </a:prstGeom>
          <a:noFill/>
          <a:ln/>
        </p:spPr>
        <p:txBody>
          <a:bodyPr wrap="square" rtlCol="0" anchor="ctr"/>
          <a:lstStyle/>
          <a:p>
            <a:pPr marL="0" indent="0">
              <a:buNone/>
            </a:pPr>
            <a:r>
              <a:rPr lang="en-US" sz="8000" b="1" dirty="0">
                <a:solidFill>
                  <a:srgbClr val="E6922A"/>
                </a:solidFill>
                <a:latin typeface="Georgia" pitchFamily="34" charset="0"/>
                <a:ea typeface="Georgia" pitchFamily="34" charset="-122"/>
                <a:cs typeface="Georgia" pitchFamily="34" charset="-120"/>
              </a:rPr>
              <a:t>02</a:t>
            </a:r>
            <a:endParaRPr lang="en-US" sz="8000" dirty="0"/>
          </a:p>
        </p:txBody>
      </p:sp>
      <p:sp>
        <p:nvSpPr>
          <p:cNvPr id="4" name="Text 2"/>
          <p:cNvSpPr/>
          <p:nvPr/>
        </p:nvSpPr>
        <p:spPr>
          <a:xfrm>
            <a:off x="457200" y="2011680"/>
            <a:ext cx="82296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Data &amp;</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Methods</a:t>
            </a:r>
            <a:endParaRPr lang="en-US" sz="3600" dirty="0"/>
          </a:p>
        </p:txBody>
      </p:sp>
      <p:sp>
        <p:nvSpPr>
          <p:cNvPr id="5" name="Text 3"/>
          <p:cNvSpPr/>
          <p:nvPr/>
        </p:nvSpPr>
        <p:spPr>
          <a:xfrm>
            <a:off x="457200" y="3429000"/>
            <a:ext cx="82296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Collection · Parsing · Snowball · Graph Construction · Step-Distance 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Data Collection Pipeline</a:t>
            </a:r>
            <a:endParaRPr lang="en-US" sz="2200" dirty="0"/>
          </a:p>
        </p:txBody>
      </p:sp>
      <p:sp>
        <p:nvSpPr>
          <p:cNvPr id="3" name="Shape 1"/>
          <p:cNvSpPr/>
          <p:nvPr/>
        </p:nvSpPr>
        <p:spPr>
          <a:xfrm>
            <a:off x="365760" y="960120"/>
            <a:ext cx="2743200" cy="1554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4" name="Shape 2"/>
          <p:cNvSpPr/>
          <p:nvPr/>
        </p:nvSpPr>
        <p:spPr>
          <a:xfrm>
            <a:off x="365760" y="960120"/>
            <a:ext cx="2743200" cy="64008"/>
          </a:xfrm>
          <a:prstGeom prst="rect">
            <a:avLst/>
          </a:prstGeom>
          <a:solidFill>
            <a:srgbClr val="2E86AB"/>
          </a:solidFill>
          <a:ln w="12700">
            <a:solidFill>
              <a:srgbClr val="2E86AB"/>
            </a:solidFill>
            <a:prstDash val="solid"/>
          </a:ln>
        </p:spPr>
      </p:sp>
      <p:sp>
        <p:nvSpPr>
          <p:cNvPr id="5" name="Shape 3"/>
          <p:cNvSpPr/>
          <p:nvPr/>
        </p:nvSpPr>
        <p:spPr>
          <a:xfrm>
            <a:off x="502920" y="1124712"/>
            <a:ext cx="365760" cy="365760"/>
          </a:xfrm>
          <a:prstGeom prst="ellipse">
            <a:avLst/>
          </a:prstGeom>
          <a:solidFill>
            <a:srgbClr val="2E86AB"/>
          </a:solidFill>
          <a:ln w="12700">
            <a:solidFill>
              <a:srgbClr val="2E86AB"/>
            </a:solidFill>
            <a:prstDash val="solid"/>
          </a:ln>
        </p:spPr>
      </p:sp>
      <p:sp>
        <p:nvSpPr>
          <p:cNvPr id="6" name="Text 4"/>
          <p:cNvSpPr/>
          <p:nvPr/>
        </p:nvSpPr>
        <p:spPr>
          <a:xfrm>
            <a:off x="502920" y="1124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60120" y="1097280"/>
            <a:ext cx="2057400" cy="365760"/>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Collect Anchor Sources</a:t>
            </a:r>
            <a:endParaRPr lang="en-US" sz="1150" dirty="0"/>
          </a:p>
        </p:txBody>
      </p:sp>
      <p:sp>
        <p:nvSpPr>
          <p:cNvPr id="8" name="Text 6"/>
          <p:cNvSpPr/>
          <p:nvPr/>
        </p:nvSpPr>
        <p:spPr>
          <a:xfrm>
            <a:off x="960120" y="1463040"/>
            <a:ext cx="2057400" cy="73152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~150 academic PDFs</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(DOI verified)</a:t>
            </a:r>
            <a:endParaRPr lang="en-US" sz="950" dirty="0"/>
          </a:p>
        </p:txBody>
      </p:sp>
      <p:sp>
        <p:nvSpPr>
          <p:cNvPr id="9" name="Shape 7"/>
          <p:cNvSpPr/>
          <p:nvPr/>
        </p:nvSpPr>
        <p:spPr>
          <a:xfrm>
            <a:off x="3291840" y="960120"/>
            <a:ext cx="2743200" cy="1554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0" name="Shape 8"/>
          <p:cNvSpPr/>
          <p:nvPr/>
        </p:nvSpPr>
        <p:spPr>
          <a:xfrm>
            <a:off x="3291840" y="960120"/>
            <a:ext cx="2743200" cy="64008"/>
          </a:xfrm>
          <a:prstGeom prst="rect">
            <a:avLst/>
          </a:prstGeom>
          <a:solidFill>
            <a:srgbClr val="C0392B"/>
          </a:solidFill>
          <a:ln w="12700">
            <a:solidFill>
              <a:srgbClr val="C0392B"/>
            </a:solidFill>
            <a:prstDash val="solid"/>
          </a:ln>
        </p:spPr>
      </p:sp>
      <p:sp>
        <p:nvSpPr>
          <p:cNvPr id="11" name="Shape 9"/>
          <p:cNvSpPr/>
          <p:nvPr/>
        </p:nvSpPr>
        <p:spPr>
          <a:xfrm>
            <a:off x="3429000" y="1124712"/>
            <a:ext cx="365760" cy="365760"/>
          </a:xfrm>
          <a:prstGeom prst="ellipse">
            <a:avLst/>
          </a:prstGeom>
          <a:solidFill>
            <a:srgbClr val="C0392B"/>
          </a:solidFill>
          <a:ln w="12700">
            <a:solidFill>
              <a:srgbClr val="C0392B"/>
            </a:solidFill>
            <a:prstDash val="solid"/>
          </a:ln>
        </p:spPr>
      </p:sp>
      <p:sp>
        <p:nvSpPr>
          <p:cNvPr id="12" name="Text 10"/>
          <p:cNvSpPr/>
          <p:nvPr/>
        </p:nvSpPr>
        <p:spPr>
          <a:xfrm>
            <a:off x="3429000" y="1124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3886200" y="1097280"/>
            <a:ext cx="2057400" cy="365760"/>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Collect Primary Sources</a:t>
            </a:r>
            <a:endParaRPr lang="en-US" sz="1150" dirty="0"/>
          </a:p>
        </p:txBody>
      </p:sp>
      <p:sp>
        <p:nvSpPr>
          <p:cNvPr id="14" name="Text 12"/>
          <p:cNvSpPr/>
          <p:nvPr/>
        </p:nvSpPr>
        <p:spPr>
          <a:xfrm>
            <a:off x="3886200" y="1463040"/>
            <a:ext cx="2057400" cy="73152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Archaeological site data</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(CSV, open source)</a:t>
            </a:r>
            <a:endParaRPr lang="en-US" sz="950" dirty="0"/>
          </a:p>
        </p:txBody>
      </p:sp>
      <p:sp>
        <p:nvSpPr>
          <p:cNvPr id="15" name="Shape 13"/>
          <p:cNvSpPr/>
          <p:nvPr/>
        </p:nvSpPr>
        <p:spPr>
          <a:xfrm>
            <a:off x="6217920" y="960120"/>
            <a:ext cx="2743200" cy="1554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6" name="Shape 14"/>
          <p:cNvSpPr/>
          <p:nvPr/>
        </p:nvSpPr>
        <p:spPr>
          <a:xfrm>
            <a:off x="6217920" y="960120"/>
            <a:ext cx="2743200" cy="64008"/>
          </a:xfrm>
          <a:prstGeom prst="rect">
            <a:avLst/>
          </a:prstGeom>
          <a:solidFill>
            <a:srgbClr val="E6922A"/>
          </a:solidFill>
          <a:ln w="12700">
            <a:solidFill>
              <a:srgbClr val="E6922A"/>
            </a:solidFill>
            <a:prstDash val="solid"/>
          </a:ln>
        </p:spPr>
      </p:sp>
      <p:sp>
        <p:nvSpPr>
          <p:cNvPr id="17" name="Shape 15"/>
          <p:cNvSpPr/>
          <p:nvPr/>
        </p:nvSpPr>
        <p:spPr>
          <a:xfrm>
            <a:off x="6355080" y="1124712"/>
            <a:ext cx="365760" cy="365760"/>
          </a:xfrm>
          <a:prstGeom prst="ellipse">
            <a:avLst/>
          </a:prstGeom>
          <a:solidFill>
            <a:srgbClr val="E6922A"/>
          </a:solidFill>
          <a:ln w="12700">
            <a:solidFill>
              <a:srgbClr val="E6922A"/>
            </a:solidFill>
            <a:prstDash val="solid"/>
          </a:ln>
        </p:spPr>
      </p:sp>
      <p:sp>
        <p:nvSpPr>
          <p:cNvPr id="18" name="Text 16"/>
          <p:cNvSpPr/>
          <p:nvPr/>
        </p:nvSpPr>
        <p:spPr>
          <a:xfrm>
            <a:off x="6355080" y="1124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6812280" y="1097280"/>
            <a:ext cx="2057400" cy="365760"/>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Parse &amp; Clean</a:t>
            </a:r>
            <a:endParaRPr lang="en-US" sz="1150" dirty="0"/>
          </a:p>
        </p:txBody>
      </p:sp>
      <p:sp>
        <p:nvSpPr>
          <p:cNvPr id="20" name="Text 18"/>
          <p:cNvSpPr/>
          <p:nvPr/>
        </p:nvSpPr>
        <p:spPr>
          <a:xfrm>
            <a:off x="6812280" y="1463040"/>
            <a:ext cx="2057400" cy="73152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pdfplumber · OCR</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Metadata → CSV</a:t>
            </a:r>
            <a:endParaRPr lang="en-US" sz="950" dirty="0"/>
          </a:p>
        </p:txBody>
      </p:sp>
      <p:sp>
        <p:nvSpPr>
          <p:cNvPr id="21" name="Shape 19"/>
          <p:cNvSpPr/>
          <p:nvPr/>
        </p:nvSpPr>
        <p:spPr>
          <a:xfrm>
            <a:off x="365760" y="2788920"/>
            <a:ext cx="2743200" cy="1554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22" name="Shape 20"/>
          <p:cNvSpPr/>
          <p:nvPr/>
        </p:nvSpPr>
        <p:spPr>
          <a:xfrm>
            <a:off x="365760" y="2788920"/>
            <a:ext cx="2743200" cy="64008"/>
          </a:xfrm>
          <a:prstGeom prst="rect">
            <a:avLst/>
          </a:prstGeom>
          <a:solidFill>
            <a:srgbClr val="2E86AB"/>
          </a:solidFill>
          <a:ln w="12700">
            <a:solidFill>
              <a:srgbClr val="2E86AB"/>
            </a:solidFill>
            <a:prstDash val="solid"/>
          </a:ln>
        </p:spPr>
      </p:sp>
      <p:sp>
        <p:nvSpPr>
          <p:cNvPr id="23" name="Shape 21"/>
          <p:cNvSpPr/>
          <p:nvPr/>
        </p:nvSpPr>
        <p:spPr>
          <a:xfrm>
            <a:off x="502920" y="2953512"/>
            <a:ext cx="365760" cy="365760"/>
          </a:xfrm>
          <a:prstGeom prst="ellipse">
            <a:avLst/>
          </a:prstGeom>
          <a:solidFill>
            <a:srgbClr val="2E86AB"/>
          </a:solidFill>
          <a:ln w="12700">
            <a:solidFill>
              <a:srgbClr val="2E86AB"/>
            </a:solidFill>
            <a:prstDash val="solid"/>
          </a:ln>
        </p:spPr>
      </p:sp>
      <p:sp>
        <p:nvSpPr>
          <p:cNvPr id="24" name="Text 22"/>
          <p:cNvSpPr/>
          <p:nvPr/>
        </p:nvSpPr>
        <p:spPr>
          <a:xfrm>
            <a:off x="502920" y="29535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960120" y="2926080"/>
            <a:ext cx="2057400" cy="365760"/>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Snowball Expansion</a:t>
            </a:r>
            <a:endParaRPr lang="en-US" sz="1150" dirty="0"/>
          </a:p>
        </p:txBody>
      </p:sp>
      <p:sp>
        <p:nvSpPr>
          <p:cNvPr id="26" name="Text 24"/>
          <p:cNvSpPr/>
          <p:nvPr/>
        </p:nvSpPr>
        <p:spPr>
          <a:xfrm>
            <a:off x="960120" y="3291840"/>
            <a:ext cx="2057400" cy="73152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AnyStyle bibliography</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extraction → JSON</a:t>
            </a:r>
            <a:endParaRPr lang="en-US" sz="950" dirty="0"/>
          </a:p>
        </p:txBody>
      </p:sp>
      <p:sp>
        <p:nvSpPr>
          <p:cNvPr id="27" name="Shape 25"/>
          <p:cNvSpPr/>
          <p:nvPr/>
        </p:nvSpPr>
        <p:spPr>
          <a:xfrm>
            <a:off x="3291840" y="2788920"/>
            <a:ext cx="2743200" cy="1554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28" name="Shape 26"/>
          <p:cNvSpPr/>
          <p:nvPr/>
        </p:nvSpPr>
        <p:spPr>
          <a:xfrm>
            <a:off x="3291840" y="2788920"/>
            <a:ext cx="2743200" cy="64008"/>
          </a:xfrm>
          <a:prstGeom prst="rect">
            <a:avLst/>
          </a:prstGeom>
          <a:solidFill>
            <a:srgbClr val="E6922A"/>
          </a:solidFill>
          <a:ln w="12700">
            <a:solidFill>
              <a:srgbClr val="E6922A"/>
            </a:solidFill>
            <a:prstDash val="solid"/>
          </a:ln>
        </p:spPr>
      </p:sp>
      <p:sp>
        <p:nvSpPr>
          <p:cNvPr id="29" name="Shape 27"/>
          <p:cNvSpPr/>
          <p:nvPr/>
        </p:nvSpPr>
        <p:spPr>
          <a:xfrm>
            <a:off x="3429000" y="2953512"/>
            <a:ext cx="365760" cy="365760"/>
          </a:xfrm>
          <a:prstGeom prst="ellipse">
            <a:avLst/>
          </a:prstGeom>
          <a:solidFill>
            <a:srgbClr val="E6922A"/>
          </a:solidFill>
          <a:ln w="12700">
            <a:solidFill>
              <a:srgbClr val="E6922A"/>
            </a:solidFill>
            <a:prstDash val="solid"/>
          </a:ln>
        </p:spPr>
      </p:sp>
      <p:sp>
        <p:nvSpPr>
          <p:cNvPr id="30" name="Text 28"/>
          <p:cNvSpPr/>
          <p:nvPr/>
        </p:nvSpPr>
        <p:spPr>
          <a:xfrm>
            <a:off x="3429000" y="29535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3886200" y="2926080"/>
            <a:ext cx="2057400" cy="365760"/>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Source Merging</a:t>
            </a:r>
            <a:endParaRPr lang="en-US" sz="1150" dirty="0"/>
          </a:p>
        </p:txBody>
      </p:sp>
      <p:sp>
        <p:nvSpPr>
          <p:cNvPr id="32" name="Text 30"/>
          <p:cNvSpPr/>
          <p:nvPr/>
        </p:nvSpPr>
        <p:spPr>
          <a:xfrm>
            <a:off x="3886200" y="3291840"/>
            <a:ext cx="2057400" cy="73152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2,103 unified sources</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138 anchor nodes</a:t>
            </a:r>
            <a:endParaRPr lang="en-US" sz="950" dirty="0"/>
          </a:p>
        </p:txBody>
      </p:sp>
      <p:sp>
        <p:nvSpPr>
          <p:cNvPr id="33" name="Shape 31"/>
          <p:cNvSpPr/>
          <p:nvPr/>
        </p:nvSpPr>
        <p:spPr>
          <a:xfrm>
            <a:off x="6217920" y="2788920"/>
            <a:ext cx="2743200" cy="1554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34" name="Shape 32"/>
          <p:cNvSpPr/>
          <p:nvPr/>
        </p:nvSpPr>
        <p:spPr>
          <a:xfrm>
            <a:off x="6217920" y="2788920"/>
            <a:ext cx="2743200" cy="64008"/>
          </a:xfrm>
          <a:prstGeom prst="rect">
            <a:avLst/>
          </a:prstGeom>
          <a:solidFill>
            <a:srgbClr val="C0392B"/>
          </a:solidFill>
          <a:ln w="12700">
            <a:solidFill>
              <a:srgbClr val="C0392B"/>
            </a:solidFill>
            <a:prstDash val="solid"/>
          </a:ln>
        </p:spPr>
      </p:sp>
      <p:sp>
        <p:nvSpPr>
          <p:cNvPr id="35" name="Shape 33"/>
          <p:cNvSpPr/>
          <p:nvPr/>
        </p:nvSpPr>
        <p:spPr>
          <a:xfrm>
            <a:off x="6355080" y="2953512"/>
            <a:ext cx="365760" cy="365760"/>
          </a:xfrm>
          <a:prstGeom prst="ellipse">
            <a:avLst/>
          </a:prstGeom>
          <a:solidFill>
            <a:srgbClr val="C0392B"/>
          </a:solidFill>
          <a:ln w="12700">
            <a:solidFill>
              <a:srgbClr val="C0392B"/>
            </a:solidFill>
            <a:prstDash val="solid"/>
          </a:ln>
        </p:spPr>
      </p:sp>
      <p:sp>
        <p:nvSpPr>
          <p:cNvPr id="36" name="Text 34"/>
          <p:cNvSpPr/>
          <p:nvPr/>
        </p:nvSpPr>
        <p:spPr>
          <a:xfrm>
            <a:off x="6355080" y="29535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6812280" y="2926080"/>
            <a:ext cx="2057400" cy="365760"/>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Graph Construction</a:t>
            </a:r>
            <a:endParaRPr lang="en-US" sz="1150" dirty="0"/>
          </a:p>
        </p:txBody>
      </p:sp>
      <p:sp>
        <p:nvSpPr>
          <p:cNvPr id="38" name="Text 36"/>
          <p:cNvSpPr/>
          <p:nvPr/>
        </p:nvSpPr>
        <p:spPr>
          <a:xfrm>
            <a:off x="6812280" y="3291840"/>
            <a:ext cx="2057400" cy="731520"/>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igraph · 2,103 nodes</a:t>
            </a:r>
            <a:endParaRPr lang="en-US" sz="950" dirty="0"/>
          </a:p>
          <a:p>
            <a:pPr marL="0" indent="0">
              <a:buNone/>
            </a:pPr>
            <a:r>
              <a:rPr lang="en-US" sz="950" dirty="0">
                <a:solidFill>
                  <a:srgbClr val="374151"/>
                </a:solidFill>
                <a:latin typeface="Calibri" pitchFamily="34" charset="0"/>
                <a:ea typeface="Calibri" pitchFamily="34" charset="-122"/>
                <a:cs typeface="Calibri" pitchFamily="34" charset="-120"/>
              </a:rPr>
              <a:t>2,524 edges</a:t>
            </a:r>
            <a:endParaRPr lang="en-US" sz="950" dirty="0"/>
          </a:p>
        </p:txBody>
      </p:sp>
      <p:sp>
        <p:nvSpPr>
          <p:cNvPr id="39" name="Text 37"/>
          <p:cNvSpPr/>
          <p:nvPr/>
        </p:nvSpPr>
        <p:spPr>
          <a:xfrm>
            <a:off x="365760" y="4800600"/>
            <a:ext cx="8412480" cy="228600"/>
          </a:xfrm>
          <a:prstGeom prst="rect">
            <a:avLst/>
          </a:prstGeom>
          <a:noFill/>
          <a:ln/>
        </p:spPr>
        <p:txBody>
          <a:bodyPr wrap="square"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Data: DOI-verified academic publications · open archaeological excavation CSV</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Step-Distance Model — Epistemic Classification</a:t>
            </a:r>
            <a:endParaRPr lang="en-US" sz="2200" dirty="0"/>
          </a:p>
        </p:txBody>
      </p:sp>
      <p:sp>
        <p:nvSpPr>
          <p:cNvPr id="3" name="Text 1"/>
          <p:cNvSpPr/>
          <p:nvPr/>
        </p:nvSpPr>
        <p:spPr>
          <a:xfrm>
            <a:off x="365760" y="749808"/>
            <a:ext cx="84124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Each source assigned an epistemic distance from primary data (Step 1–5)</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7498080" cy="3749040"/>
        </p:xfrm>
        <a:graphic>
          <a:graphicData uri="http://schemas.openxmlformats.org/drawingml/2006/table">
            <a:tbl>
              <a:tblPr/>
              <a:tblGrid>
                <a:gridCol w="685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6248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F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F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Criteria</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F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F2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F2E"/>
                    </a:solidFill>
                  </a:tcPr>
                </a:tc>
                <a:extLst>
                  <a:ext uri="{0D108BD9-81ED-4DB2-BD59-A6C34878D82A}">
                    <a16:rowId xmlns:a16="http://schemas.microsoft.com/office/drawing/2014/main" val="10000"/>
                  </a:ext>
                </a:extLst>
              </a:tr>
              <a:tr h="6248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Step 1</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C0392B"/>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Direct Reliance</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DECEA"/>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Archaeological pubs — direct empirical evidence (manual)</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6248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Step 2</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6922A"/>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Mediators</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E2"/>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betweenness ≥ top 15% AND cites ≥ 1 Step 1 node</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6248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Step 3</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E86AB"/>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Authorities</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D"/>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in-degree ≥ top 10% AND cited by ≥2 Step2 AND age ≥10 yr</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226</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10.7%</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6248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Step 4</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6B8E23"/>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Mediated</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E8"/>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cites no Step1 AND cites ≥2 Step3 AND out-degree ≥2</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6248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Step 5</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8D99AE"/>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Peripheral</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6FA"/>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All others — NOT Step 1/2/3/4</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1,673</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79.6%</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365760" y="4800600"/>
            <a:ext cx="8412480" cy="228600"/>
          </a:xfrm>
          <a:prstGeom prst="rect">
            <a:avLst/>
          </a:prstGeom>
          <a:noFill/>
          <a:ln/>
        </p:spPr>
        <p:txBody>
          <a:bodyPr wrap="square"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Step-Distance Model · sources_withAll_steps_v2_LABELED.csv · N = 2,103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2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w="12700">
            <a:solidFill>
              <a:srgbClr val="2E86AB"/>
            </a:solidFill>
            <a:prstDash val="solid"/>
          </a:ln>
        </p:spPr>
      </p:sp>
      <p:sp>
        <p:nvSpPr>
          <p:cNvPr id="3" name="Text 1"/>
          <p:cNvSpPr/>
          <p:nvPr/>
        </p:nvSpPr>
        <p:spPr>
          <a:xfrm>
            <a:off x="457200" y="731520"/>
            <a:ext cx="1828800" cy="1280160"/>
          </a:xfrm>
          <a:prstGeom prst="rect">
            <a:avLst/>
          </a:prstGeom>
          <a:noFill/>
          <a:ln/>
        </p:spPr>
        <p:txBody>
          <a:bodyPr wrap="square" rtlCol="0" anchor="ctr"/>
          <a:lstStyle/>
          <a:p>
            <a:pPr marL="0" indent="0">
              <a:buNone/>
            </a:pPr>
            <a:r>
              <a:rPr lang="en-US" sz="8000" b="1" dirty="0">
                <a:solidFill>
                  <a:srgbClr val="2E86AB"/>
                </a:solidFill>
                <a:latin typeface="Georgia" pitchFamily="34" charset="0"/>
                <a:ea typeface="Georgia" pitchFamily="34" charset="-122"/>
                <a:cs typeface="Georgia" pitchFamily="34" charset="-120"/>
              </a:rPr>
              <a:t>03</a:t>
            </a:r>
            <a:endParaRPr lang="en-US" sz="8000" dirty="0"/>
          </a:p>
        </p:txBody>
      </p:sp>
      <p:sp>
        <p:nvSpPr>
          <p:cNvPr id="4" name="Text 2"/>
          <p:cNvSpPr/>
          <p:nvPr/>
        </p:nvSpPr>
        <p:spPr>
          <a:xfrm>
            <a:off x="457200" y="2011680"/>
            <a:ext cx="8229600" cy="137160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Research Questions</a:t>
            </a:r>
            <a:endParaRPr lang="en-US" sz="3200" dirty="0"/>
          </a:p>
          <a:p>
            <a:pPr marL="0" indent="0">
              <a:buNone/>
            </a:pPr>
            <a:r>
              <a:rPr lang="en-US" sz="3200" b="1" dirty="0">
                <a:solidFill>
                  <a:srgbClr val="FFFFFF"/>
                </a:solidFill>
                <a:latin typeface="Georgia" pitchFamily="34" charset="0"/>
                <a:ea typeface="Georgia" pitchFamily="34" charset="-122"/>
                <a:cs typeface="Georgia" pitchFamily="34" charset="-120"/>
              </a:rPr>
              <a:t>&amp; Hypotheses</a:t>
            </a:r>
            <a:endParaRPr lang="en-US" sz="3200" dirty="0"/>
          </a:p>
        </p:txBody>
      </p:sp>
      <p:sp>
        <p:nvSpPr>
          <p:cNvPr id="5" name="Text 3"/>
          <p:cNvSpPr/>
          <p:nvPr/>
        </p:nvSpPr>
        <p:spPr>
          <a:xfrm>
            <a:off x="457200" y="3429000"/>
            <a:ext cx="82296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2 RQs · 5 Hypotheses forming a chain of evidence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Research Questions &amp; Hypotheses Chain</a:t>
            </a:r>
            <a:endParaRPr lang="en-US" sz="2200" dirty="0"/>
          </a:p>
        </p:txBody>
      </p:sp>
      <p:sp>
        <p:nvSpPr>
          <p:cNvPr id="3" name="Shape 1"/>
          <p:cNvSpPr/>
          <p:nvPr/>
        </p:nvSpPr>
        <p:spPr>
          <a:xfrm>
            <a:off x="365760" y="914400"/>
            <a:ext cx="8412480" cy="713232"/>
          </a:xfrm>
          <a:prstGeom prst="rect">
            <a:avLst/>
          </a:prstGeom>
          <a:solidFill>
            <a:srgbClr val="FFFFFF"/>
          </a:solidFill>
          <a:ln w="25400">
            <a:solidFill>
              <a:srgbClr val="2E86AB"/>
            </a:solidFill>
            <a:prstDash val="solid"/>
          </a:ln>
          <a:effectLst>
            <a:outerShdw blurRad="101600" dist="38100" dir="8100000" algn="bl" rotWithShape="0">
              <a:srgbClr val="000000">
                <a:alpha val="12000"/>
              </a:srgbClr>
            </a:outerShdw>
          </a:effectLst>
        </p:spPr>
      </p:sp>
      <p:sp>
        <p:nvSpPr>
          <p:cNvPr id="4" name="Text 2"/>
          <p:cNvSpPr/>
          <p:nvPr/>
        </p:nvSpPr>
        <p:spPr>
          <a:xfrm>
            <a:off x="457200" y="1005840"/>
            <a:ext cx="822960" cy="530352"/>
          </a:xfrm>
          <a:prstGeom prst="rect">
            <a:avLst/>
          </a:prstGeom>
          <a:noFill/>
          <a:ln/>
        </p:spPr>
        <p:txBody>
          <a:bodyPr wrap="square" rtlCol="0" anchor="ctr"/>
          <a:lstStyle/>
          <a:p>
            <a:pPr marL="0" indent="0">
              <a:buNone/>
            </a:pPr>
            <a:r>
              <a:rPr lang="en-US" sz="1600" b="1" dirty="0">
                <a:solidFill>
                  <a:srgbClr val="2E86AB"/>
                </a:solidFill>
                <a:latin typeface="Georgia" pitchFamily="34" charset="0"/>
                <a:ea typeface="Georgia" pitchFamily="34" charset="-122"/>
                <a:cs typeface="Georgia" pitchFamily="34" charset="-120"/>
              </a:rPr>
              <a:t>RQ1</a:t>
            </a:r>
            <a:endParaRPr lang="en-US" sz="1600" dirty="0"/>
          </a:p>
        </p:txBody>
      </p:sp>
      <p:sp>
        <p:nvSpPr>
          <p:cNvPr id="5" name="Text 3"/>
          <p:cNvSpPr/>
          <p:nvPr/>
        </p:nvSpPr>
        <p:spPr>
          <a:xfrm>
            <a:off x="1325880" y="978408"/>
            <a:ext cx="7315200" cy="585216"/>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How is scholarly knowledge about Edubba schools structurally organised within the citation network — and what role do primary archaeological sources play?</a:t>
            </a:r>
            <a:endParaRPr lang="en-US" sz="1050" dirty="0"/>
          </a:p>
        </p:txBody>
      </p:sp>
      <p:sp>
        <p:nvSpPr>
          <p:cNvPr id="6" name="Shape 4"/>
          <p:cNvSpPr/>
          <p:nvPr/>
        </p:nvSpPr>
        <p:spPr>
          <a:xfrm>
            <a:off x="365760" y="1783080"/>
            <a:ext cx="8412480" cy="713232"/>
          </a:xfrm>
          <a:prstGeom prst="rect">
            <a:avLst/>
          </a:prstGeom>
          <a:solidFill>
            <a:srgbClr val="FFFFFF"/>
          </a:solidFill>
          <a:ln w="25400">
            <a:solidFill>
              <a:srgbClr val="E6922A"/>
            </a:solidFill>
            <a:prstDash val="solid"/>
          </a:ln>
          <a:effectLst>
            <a:outerShdw blurRad="101600" dist="38100" dir="8100000" algn="bl" rotWithShape="0">
              <a:srgbClr val="000000">
                <a:alpha val="12000"/>
              </a:srgbClr>
            </a:outerShdw>
          </a:effectLst>
        </p:spPr>
      </p:sp>
      <p:sp>
        <p:nvSpPr>
          <p:cNvPr id="7" name="Text 5"/>
          <p:cNvSpPr/>
          <p:nvPr/>
        </p:nvSpPr>
        <p:spPr>
          <a:xfrm>
            <a:off x="457200" y="1874520"/>
            <a:ext cx="822960" cy="530352"/>
          </a:xfrm>
          <a:prstGeom prst="rect">
            <a:avLst/>
          </a:prstGeom>
          <a:noFill/>
          <a:ln/>
        </p:spPr>
        <p:txBody>
          <a:bodyPr wrap="square" rtlCol="0" anchor="ctr"/>
          <a:lstStyle/>
          <a:p>
            <a:pPr marL="0" indent="0">
              <a:buNone/>
            </a:pPr>
            <a:r>
              <a:rPr lang="en-US" sz="1600" b="1" dirty="0">
                <a:solidFill>
                  <a:srgbClr val="E6922A"/>
                </a:solidFill>
                <a:latin typeface="Georgia" pitchFamily="34" charset="0"/>
                <a:ea typeface="Georgia" pitchFamily="34" charset="-122"/>
                <a:cs typeface="Georgia" pitchFamily="34" charset="-120"/>
              </a:rPr>
              <a:t>RQ2</a:t>
            </a:r>
            <a:endParaRPr lang="en-US" sz="1600" dirty="0"/>
          </a:p>
        </p:txBody>
      </p:sp>
      <p:sp>
        <p:nvSpPr>
          <p:cNvPr id="8" name="Text 6"/>
          <p:cNvSpPr/>
          <p:nvPr/>
        </p:nvSpPr>
        <p:spPr>
          <a:xfrm>
            <a:off x="1325880" y="1847088"/>
            <a:ext cx="7315200" cy="585216"/>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Which sources can be identified as epistemically reliable based on their structural position relative to primary data — and do the most reliable sources coincide with the most cited?</a:t>
            </a:r>
            <a:endParaRPr lang="en-US" sz="1050" dirty="0"/>
          </a:p>
        </p:txBody>
      </p:sp>
      <p:sp>
        <p:nvSpPr>
          <p:cNvPr id="9" name="Text 7"/>
          <p:cNvSpPr/>
          <p:nvPr/>
        </p:nvSpPr>
        <p:spPr>
          <a:xfrm>
            <a:off x="365760" y="2697480"/>
            <a:ext cx="8229600" cy="27432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Operationalised through 5 sequential hypotheses:</a:t>
            </a:r>
            <a:endParaRPr lang="en-US" sz="1100" dirty="0"/>
          </a:p>
        </p:txBody>
      </p:sp>
      <p:sp>
        <p:nvSpPr>
          <p:cNvPr id="10" name="Shape 8"/>
          <p:cNvSpPr/>
          <p:nvPr/>
        </p:nvSpPr>
        <p:spPr>
          <a:xfrm>
            <a:off x="365760" y="3063240"/>
            <a:ext cx="1600200" cy="164592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1" name="Shape 9"/>
          <p:cNvSpPr/>
          <p:nvPr/>
        </p:nvSpPr>
        <p:spPr>
          <a:xfrm>
            <a:off x="365760" y="3063240"/>
            <a:ext cx="1600200" cy="64008"/>
          </a:xfrm>
          <a:prstGeom prst="rect">
            <a:avLst/>
          </a:prstGeom>
          <a:solidFill>
            <a:srgbClr val="E6922A"/>
          </a:solidFill>
          <a:ln w="12700">
            <a:solidFill>
              <a:srgbClr val="E6922A"/>
            </a:solidFill>
            <a:prstDash val="solid"/>
          </a:ln>
        </p:spPr>
      </p:sp>
      <p:sp>
        <p:nvSpPr>
          <p:cNvPr id="12" name="Text 10"/>
          <p:cNvSpPr/>
          <p:nvPr/>
        </p:nvSpPr>
        <p:spPr>
          <a:xfrm>
            <a:off x="365760" y="3127248"/>
            <a:ext cx="1600200" cy="41148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H1</a:t>
            </a:r>
            <a:endParaRPr lang="en-US" sz="2000" dirty="0"/>
          </a:p>
        </p:txBody>
      </p:sp>
      <p:sp>
        <p:nvSpPr>
          <p:cNvPr id="13" name="Text 11"/>
          <p:cNvSpPr/>
          <p:nvPr/>
        </p:nvSpPr>
        <p:spPr>
          <a:xfrm>
            <a:off x="438912" y="3538728"/>
            <a:ext cx="1463040" cy="457200"/>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Network Topology</a:t>
            </a:r>
            <a:endParaRPr lang="en-US" sz="950" dirty="0"/>
          </a:p>
        </p:txBody>
      </p:sp>
      <p:sp>
        <p:nvSpPr>
          <p:cNvPr id="14" name="Text 12"/>
          <p:cNvSpPr/>
          <p:nvPr/>
        </p:nvSpPr>
        <p:spPr>
          <a:xfrm>
            <a:off x="438912" y="3995928"/>
            <a:ext cx="1463040" cy="594360"/>
          </a:xfrm>
          <a:prstGeom prst="rect">
            <a:avLst/>
          </a:prstGeom>
          <a:noFill/>
          <a:ln/>
        </p:spPr>
        <p:txBody>
          <a:bodyPr wrap="square" rtlCol="0" anchor="ctr"/>
          <a:lstStyle/>
          <a:p>
            <a:pPr marL="0" indent="0" algn="ctr">
              <a:buNone/>
            </a:pPr>
            <a:r>
              <a:rPr lang="en-US" sz="850" i="1" dirty="0">
                <a:solidFill>
                  <a:srgbClr val="6B7280"/>
                </a:solidFill>
                <a:latin typeface="Calibri" pitchFamily="34" charset="0"/>
                <a:ea typeface="Calibri" pitchFamily="34" charset="-122"/>
                <a:cs typeface="Calibri" pitchFamily="34" charset="-120"/>
              </a:rPr>
              <a:t>Hierarchical structure?</a:t>
            </a:r>
            <a:endParaRPr lang="en-US" sz="850" dirty="0"/>
          </a:p>
        </p:txBody>
      </p:sp>
      <p:sp>
        <p:nvSpPr>
          <p:cNvPr id="15" name="Shape 13"/>
          <p:cNvSpPr/>
          <p:nvPr/>
        </p:nvSpPr>
        <p:spPr>
          <a:xfrm>
            <a:off x="2084832" y="3063240"/>
            <a:ext cx="1600200" cy="164592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16" name="Shape 14"/>
          <p:cNvSpPr/>
          <p:nvPr/>
        </p:nvSpPr>
        <p:spPr>
          <a:xfrm>
            <a:off x="2084832" y="3063240"/>
            <a:ext cx="1600200" cy="64008"/>
          </a:xfrm>
          <a:prstGeom prst="rect">
            <a:avLst/>
          </a:prstGeom>
          <a:solidFill>
            <a:srgbClr val="E6922A"/>
          </a:solidFill>
          <a:ln w="12700">
            <a:solidFill>
              <a:srgbClr val="E6922A"/>
            </a:solidFill>
            <a:prstDash val="solid"/>
          </a:ln>
        </p:spPr>
      </p:sp>
      <p:sp>
        <p:nvSpPr>
          <p:cNvPr id="17" name="Text 15"/>
          <p:cNvSpPr/>
          <p:nvPr/>
        </p:nvSpPr>
        <p:spPr>
          <a:xfrm>
            <a:off x="2084832" y="3127248"/>
            <a:ext cx="1600200" cy="41148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H2</a:t>
            </a:r>
            <a:endParaRPr lang="en-US" sz="2000" dirty="0"/>
          </a:p>
        </p:txBody>
      </p:sp>
      <p:sp>
        <p:nvSpPr>
          <p:cNvPr id="18" name="Text 16"/>
          <p:cNvSpPr/>
          <p:nvPr/>
        </p:nvSpPr>
        <p:spPr>
          <a:xfrm>
            <a:off x="2157984" y="3538728"/>
            <a:ext cx="1463040" cy="457200"/>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Structural Gap</a:t>
            </a:r>
            <a:endParaRPr lang="en-US" sz="950" dirty="0"/>
          </a:p>
        </p:txBody>
      </p:sp>
      <p:sp>
        <p:nvSpPr>
          <p:cNvPr id="19" name="Text 17"/>
          <p:cNvSpPr/>
          <p:nvPr/>
        </p:nvSpPr>
        <p:spPr>
          <a:xfrm>
            <a:off x="2157984" y="3995928"/>
            <a:ext cx="1463040" cy="594360"/>
          </a:xfrm>
          <a:prstGeom prst="rect">
            <a:avLst/>
          </a:prstGeom>
          <a:noFill/>
          <a:ln/>
        </p:spPr>
        <p:txBody>
          <a:bodyPr wrap="square" rtlCol="0" anchor="ctr"/>
          <a:lstStyle/>
          <a:p>
            <a:pPr marL="0" indent="0" algn="ctr">
              <a:buNone/>
            </a:pPr>
            <a:r>
              <a:rPr lang="en-US" sz="850" i="1" dirty="0">
                <a:solidFill>
                  <a:srgbClr val="6B7280"/>
                </a:solidFill>
                <a:latin typeface="Calibri" pitchFamily="34" charset="0"/>
                <a:ea typeface="Calibri" pitchFamily="34" charset="-122"/>
                <a:cs typeface="Calibri" pitchFamily="34" charset="-120"/>
              </a:rPr>
              <a:t>Step1 vs Step3 isolated?</a:t>
            </a:r>
            <a:endParaRPr lang="en-US" sz="850" dirty="0"/>
          </a:p>
        </p:txBody>
      </p:sp>
      <p:sp>
        <p:nvSpPr>
          <p:cNvPr id="20" name="Shape 18"/>
          <p:cNvSpPr/>
          <p:nvPr/>
        </p:nvSpPr>
        <p:spPr>
          <a:xfrm>
            <a:off x="3803904" y="3063240"/>
            <a:ext cx="1600200" cy="164592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21" name="Shape 19"/>
          <p:cNvSpPr/>
          <p:nvPr/>
        </p:nvSpPr>
        <p:spPr>
          <a:xfrm>
            <a:off x="3803904" y="3063240"/>
            <a:ext cx="1600200" cy="64008"/>
          </a:xfrm>
          <a:prstGeom prst="rect">
            <a:avLst/>
          </a:prstGeom>
          <a:solidFill>
            <a:srgbClr val="E6922A"/>
          </a:solidFill>
          <a:ln w="12700">
            <a:solidFill>
              <a:srgbClr val="E6922A"/>
            </a:solidFill>
            <a:prstDash val="solid"/>
          </a:ln>
        </p:spPr>
      </p:sp>
      <p:sp>
        <p:nvSpPr>
          <p:cNvPr id="22" name="Text 20"/>
          <p:cNvSpPr/>
          <p:nvPr/>
        </p:nvSpPr>
        <p:spPr>
          <a:xfrm>
            <a:off x="3803904" y="3127248"/>
            <a:ext cx="1600200" cy="41148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H3</a:t>
            </a:r>
            <a:endParaRPr lang="en-US" sz="2000" dirty="0"/>
          </a:p>
        </p:txBody>
      </p:sp>
      <p:sp>
        <p:nvSpPr>
          <p:cNvPr id="23" name="Text 21"/>
          <p:cNvSpPr/>
          <p:nvPr/>
        </p:nvSpPr>
        <p:spPr>
          <a:xfrm>
            <a:off x="3877056" y="3538728"/>
            <a:ext cx="1463040" cy="457200"/>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Bottleneck</a:t>
            </a:r>
            <a:endParaRPr lang="en-US" sz="950" dirty="0"/>
          </a:p>
        </p:txBody>
      </p:sp>
      <p:sp>
        <p:nvSpPr>
          <p:cNvPr id="24" name="Text 22"/>
          <p:cNvSpPr/>
          <p:nvPr/>
        </p:nvSpPr>
        <p:spPr>
          <a:xfrm>
            <a:off x="3877056" y="3995928"/>
            <a:ext cx="1463040" cy="594360"/>
          </a:xfrm>
          <a:prstGeom prst="rect">
            <a:avLst/>
          </a:prstGeom>
          <a:noFill/>
          <a:ln/>
        </p:spPr>
        <p:txBody>
          <a:bodyPr wrap="square" rtlCol="0" anchor="ctr"/>
          <a:lstStyle/>
          <a:p>
            <a:pPr marL="0" indent="0" algn="ctr">
              <a:buNone/>
            </a:pPr>
            <a:r>
              <a:rPr lang="en-US" sz="850" i="1" dirty="0">
                <a:solidFill>
                  <a:srgbClr val="6B7280"/>
                </a:solidFill>
                <a:latin typeface="Calibri" pitchFamily="34" charset="0"/>
                <a:ea typeface="Calibri" pitchFamily="34" charset="-122"/>
                <a:cs typeface="Calibri" pitchFamily="34" charset="-120"/>
              </a:rPr>
              <a:t>Step 2 — only bridge?</a:t>
            </a:r>
            <a:endParaRPr lang="en-US" sz="850" dirty="0"/>
          </a:p>
        </p:txBody>
      </p:sp>
      <p:sp>
        <p:nvSpPr>
          <p:cNvPr id="25" name="Shape 23"/>
          <p:cNvSpPr/>
          <p:nvPr/>
        </p:nvSpPr>
        <p:spPr>
          <a:xfrm>
            <a:off x="5522976" y="3063240"/>
            <a:ext cx="1600200" cy="164592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26" name="Shape 24"/>
          <p:cNvSpPr/>
          <p:nvPr/>
        </p:nvSpPr>
        <p:spPr>
          <a:xfrm>
            <a:off x="5522976" y="3063240"/>
            <a:ext cx="1600200" cy="64008"/>
          </a:xfrm>
          <a:prstGeom prst="rect">
            <a:avLst/>
          </a:prstGeom>
          <a:solidFill>
            <a:srgbClr val="E6922A"/>
          </a:solidFill>
          <a:ln w="12700">
            <a:solidFill>
              <a:srgbClr val="E6922A"/>
            </a:solidFill>
            <a:prstDash val="solid"/>
          </a:ln>
        </p:spPr>
      </p:sp>
      <p:sp>
        <p:nvSpPr>
          <p:cNvPr id="27" name="Text 25"/>
          <p:cNvSpPr/>
          <p:nvPr/>
        </p:nvSpPr>
        <p:spPr>
          <a:xfrm>
            <a:off x="5522976" y="3127248"/>
            <a:ext cx="1600200" cy="41148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H4</a:t>
            </a:r>
            <a:endParaRPr lang="en-US" sz="2000" dirty="0"/>
          </a:p>
        </p:txBody>
      </p:sp>
      <p:sp>
        <p:nvSpPr>
          <p:cNvPr id="28" name="Text 26"/>
          <p:cNvSpPr/>
          <p:nvPr/>
        </p:nvSpPr>
        <p:spPr>
          <a:xfrm>
            <a:off x="5596128" y="3538728"/>
            <a:ext cx="1463040" cy="457200"/>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Epistemic Displacement</a:t>
            </a:r>
            <a:endParaRPr lang="en-US" sz="950" dirty="0"/>
          </a:p>
        </p:txBody>
      </p:sp>
      <p:sp>
        <p:nvSpPr>
          <p:cNvPr id="29" name="Text 27"/>
          <p:cNvSpPr/>
          <p:nvPr/>
        </p:nvSpPr>
        <p:spPr>
          <a:xfrm>
            <a:off x="5596128" y="3995928"/>
            <a:ext cx="1463040" cy="594360"/>
          </a:xfrm>
          <a:prstGeom prst="rect">
            <a:avLst/>
          </a:prstGeom>
          <a:noFill/>
          <a:ln/>
        </p:spPr>
        <p:txBody>
          <a:bodyPr wrap="square" rtlCol="0" anchor="ctr"/>
          <a:lstStyle/>
          <a:p>
            <a:pPr marL="0" indent="0" algn="ctr">
              <a:buNone/>
            </a:pPr>
            <a:r>
              <a:rPr lang="en-US" sz="850" i="1" dirty="0">
                <a:solidFill>
                  <a:srgbClr val="6B7280"/>
                </a:solidFill>
                <a:latin typeface="Calibri" pitchFamily="34" charset="0"/>
                <a:ea typeface="Calibri" pitchFamily="34" charset="-122"/>
                <a:cs typeface="Calibri" pitchFamily="34" charset="-120"/>
              </a:rPr>
              <a:t>Eigenvector in Step 3?</a:t>
            </a:r>
            <a:endParaRPr lang="en-US" sz="850" dirty="0"/>
          </a:p>
        </p:txBody>
      </p:sp>
      <p:sp>
        <p:nvSpPr>
          <p:cNvPr id="30" name="Shape 28"/>
          <p:cNvSpPr/>
          <p:nvPr/>
        </p:nvSpPr>
        <p:spPr>
          <a:xfrm>
            <a:off x="7242048" y="3063240"/>
            <a:ext cx="1600200" cy="164592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31" name="Shape 29"/>
          <p:cNvSpPr/>
          <p:nvPr/>
        </p:nvSpPr>
        <p:spPr>
          <a:xfrm>
            <a:off x="7242048" y="3063240"/>
            <a:ext cx="1600200" cy="64008"/>
          </a:xfrm>
          <a:prstGeom prst="rect">
            <a:avLst/>
          </a:prstGeom>
          <a:solidFill>
            <a:srgbClr val="E6922A"/>
          </a:solidFill>
          <a:ln w="12700">
            <a:solidFill>
              <a:srgbClr val="E6922A"/>
            </a:solidFill>
            <a:prstDash val="solid"/>
          </a:ln>
        </p:spPr>
      </p:sp>
      <p:sp>
        <p:nvSpPr>
          <p:cNvPr id="32" name="Text 30"/>
          <p:cNvSpPr/>
          <p:nvPr/>
        </p:nvSpPr>
        <p:spPr>
          <a:xfrm>
            <a:off x="7242048" y="3127248"/>
            <a:ext cx="1600200" cy="411480"/>
          </a:xfrm>
          <a:prstGeom prst="rect">
            <a:avLst/>
          </a:prstGeom>
          <a:noFill/>
          <a:ln/>
        </p:spPr>
        <p:txBody>
          <a:bodyPr wrap="square" rtlCol="0" anchor="ctr"/>
          <a:lstStyle/>
          <a:p>
            <a:pPr marL="0" indent="0" algn="ctr">
              <a:buNone/>
            </a:pPr>
            <a:r>
              <a:rPr lang="en-US" sz="2000" b="1" dirty="0">
                <a:solidFill>
                  <a:srgbClr val="E6922A"/>
                </a:solidFill>
                <a:latin typeface="Georgia" pitchFamily="34" charset="0"/>
                <a:ea typeface="Georgia" pitchFamily="34" charset="-122"/>
                <a:cs typeface="Georgia" pitchFamily="34" charset="-120"/>
              </a:rPr>
              <a:t>H5</a:t>
            </a:r>
            <a:endParaRPr lang="en-US" sz="2000" dirty="0"/>
          </a:p>
        </p:txBody>
      </p:sp>
      <p:sp>
        <p:nvSpPr>
          <p:cNvPr id="33" name="Text 31"/>
          <p:cNvSpPr/>
          <p:nvPr/>
        </p:nvSpPr>
        <p:spPr>
          <a:xfrm>
            <a:off x="7315200" y="3538728"/>
            <a:ext cx="1463040" cy="457200"/>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Reliability Rarity</a:t>
            </a:r>
            <a:endParaRPr lang="en-US" sz="950" dirty="0"/>
          </a:p>
        </p:txBody>
      </p:sp>
      <p:sp>
        <p:nvSpPr>
          <p:cNvPr id="34" name="Text 32"/>
          <p:cNvSpPr/>
          <p:nvPr/>
        </p:nvSpPr>
        <p:spPr>
          <a:xfrm>
            <a:off x="7315200" y="3995928"/>
            <a:ext cx="1463040" cy="594360"/>
          </a:xfrm>
          <a:prstGeom prst="rect">
            <a:avLst/>
          </a:prstGeom>
          <a:noFill/>
          <a:ln/>
        </p:spPr>
        <p:txBody>
          <a:bodyPr wrap="square" rtlCol="0" anchor="ctr"/>
          <a:lstStyle/>
          <a:p>
            <a:pPr marL="0" indent="0" algn="ctr">
              <a:buNone/>
            </a:pPr>
            <a:r>
              <a:rPr lang="en-US" sz="850" i="1" dirty="0">
                <a:solidFill>
                  <a:srgbClr val="6B7280"/>
                </a:solidFill>
                <a:latin typeface="Calibri" pitchFamily="34" charset="0"/>
                <a:ea typeface="Calibri" pitchFamily="34" charset="-122"/>
                <a:cs typeface="Calibri" pitchFamily="34" charset="-120"/>
              </a:rPr>
              <a:t>Trust Triangle &lt; 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6922A"/>
          </a:solidFill>
          <a:ln w="12700">
            <a:solidFill>
              <a:srgbClr val="E6922A"/>
            </a:solidFill>
            <a:prstDash val="solid"/>
          </a:ln>
        </p:spPr>
      </p:sp>
      <p:sp>
        <p:nvSpPr>
          <p:cNvPr id="3" name="Text 1"/>
          <p:cNvSpPr/>
          <p:nvPr/>
        </p:nvSpPr>
        <p:spPr>
          <a:xfrm>
            <a:off x="457200" y="731520"/>
            <a:ext cx="1828800" cy="1280160"/>
          </a:xfrm>
          <a:prstGeom prst="rect">
            <a:avLst/>
          </a:prstGeom>
          <a:noFill/>
          <a:ln/>
        </p:spPr>
        <p:txBody>
          <a:bodyPr wrap="square" rtlCol="0" anchor="ctr"/>
          <a:lstStyle/>
          <a:p>
            <a:pPr marL="0" indent="0">
              <a:buNone/>
            </a:pPr>
            <a:r>
              <a:rPr lang="en-US" sz="8000" b="1" dirty="0">
                <a:solidFill>
                  <a:srgbClr val="E6922A"/>
                </a:solidFill>
                <a:latin typeface="Georgia" pitchFamily="34" charset="0"/>
                <a:ea typeface="Georgia" pitchFamily="34" charset="-122"/>
                <a:cs typeface="Georgia" pitchFamily="34" charset="-120"/>
              </a:rPr>
              <a:t>04</a:t>
            </a:r>
            <a:endParaRPr lang="en-US" sz="8000" dirty="0"/>
          </a:p>
        </p:txBody>
      </p:sp>
      <p:sp>
        <p:nvSpPr>
          <p:cNvPr id="4" name="Text 2"/>
          <p:cNvSpPr/>
          <p:nvPr/>
        </p:nvSpPr>
        <p:spPr>
          <a:xfrm>
            <a:off x="457200" y="2011680"/>
            <a:ext cx="82296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Results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H1–H5</a:t>
            </a:r>
            <a:endParaRPr lang="en-US" sz="3600" dirty="0"/>
          </a:p>
        </p:txBody>
      </p:sp>
      <p:sp>
        <p:nvSpPr>
          <p:cNvPr id="5" name="Text 3"/>
          <p:cNvSpPr/>
          <p:nvPr/>
        </p:nvSpPr>
        <p:spPr>
          <a:xfrm>
            <a:off x="457200" y="3429000"/>
            <a:ext cx="82296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5 visualizations · Design rationale · Key findings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0" name="Shape 6">
            <a:extLst>
              <a:ext uri="{FF2B5EF4-FFF2-40B4-BE49-F238E27FC236}">
                <a16:creationId xmlns:a16="http://schemas.microsoft.com/office/drawing/2014/main" id="{7CD41458-B43D-2E46-AC4E-40B19FC20ECF}"/>
              </a:ext>
            </a:extLst>
          </p:cNvPr>
          <p:cNvSpPr/>
          <p:nvPr/>
        </p:nvSpPr>
        <p:spPr>
          <a:xfrm>
            <a:off x="6355079" y="3273552"/>
            <a:ext cx="2514600" cy="1368117"/>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txBody>
          <a:bodyPr/>
          <a:lstStyle/>
          <a:p>
            <a:pPr algn="ctr"/>
            <a:r>
              <a:rPr lang="en-US" b="1" dirty="0">
                <a:solidFill>
                  <a:srgbClr val="E6922A"/>
                </a:solidFill>
                <a:latin typeface="Georgia" pitchFamily="34" charset="0"/>
                <a:ea typeface="Georgia" pitchFamily="34" charset="-122"/>
                <a:cs typeface="Georgia" pitchFamily="34" charset="-120"/>
              </a:rPr>
              <a:t>79.6%</a:t>
            </a:r>
          </a:p>
          <a:p>
            <a:pPr algn="ctr"/>
            <a:r>
              <a:rPr lang="en-US" sz="900" dirty="0">
                <a:solidFill>
                  <a:srgbClr val="6B7280"/>
                </a:solidFill>
                <a:latin typeface="Calibri" pitchFamily="34" charset="0"/>
                <a:ea typeface="Calibri" pitchFamily="34" charset="-122"/>
                <a:cs typeface="Calibri" pitchFamily="34" charset="-120"/>
              </a:rPr>
              <a:t>Step 5 — Peripheral</a:t>
            </a:r>
            <a:endParaRPr lang="en-US" sz="900" b="1" dirty="0">
              <a:solidFill>
                <a:srgbClr val="E6922A"/>
              </a:solidFill>
              <a:latin typeface="Georgia" pitchFamily="34" charset="0"/>
              <a:ea typeface="Georgia" pitchFamily="34" charset="-122"/>
              <a:cs typeface="Georgia" pitchFamily="34" charset="-120"/>
            </a:endParaRPr>
          </a:p>
          <a:p>
            <a:pPr algn="ctr"/>
            <a:r>
              <a:rPr lang="en-US" b="1" dirty="0">
                <a:solidFill>
                  <a:srgbClr val="E6922A"/>
                </a:solidFill>
                <a:latin typeface="Georgia" pitchFamily="34" charset="0"/>
                <a:ea typeface="Georgia" pitchFamily="34" charset="-122"/>
                <a:cs typeface="Georgia" pitchFamily="34" charset="-120"/>
              </a:rPr>
              <a:t>0.0006</a:t>
            </a:r>
          </a:p>
          <a:p>
            <a:pPr algn="ctr"/>
            <a:r>
              <a:rPr lang="en-US" sz="900" dirty="0">
                <a:solidFill>
                  <a:srgbClr val="6B7280"/>
                </a:solidFill>
                <a:latin typeface="Calibri" pitchFamily="34" charset="0"/>
                <a:ea typeface="Calibri" pitchFamily="34" charset="-122"/>
                <a:cs typeface="Calibri" pitchFamily="34" charset="-120"/>
              </a:rPr>
              <a:t>Network Density</a:t>
            </a:r>
            <a:endParaRPr lang="en-US" sz="900" b="1" dirty="0">
              <a:solidFill>
                <a:srgbClr val="E6922A"/>
              </a:solidFill>
              <a:latin typeface="Georgia" pitchFamily="34" charset="0"/>
              <a:ea typeface="Georgia" pitchFamily="34" charset="-122"/>
              <a:cs typeface="Georgia" pitchFamily="34" charset="-120"/>
            </a:endParaRPr>
          </a:p>
          <a:p>
            <a:pPr algn="ctr"/>
            <a:r>
              <a:rPr lang="en-US" b="1" dirty="0">
                <a:solidFill>
                  <a:srgbClr val="E6922A"/>
                </a:solidFill>
                <a:latin typeface="Georgia" pitchFamily="34" charset="0"/>
                <a:ea typeface="Georgia" pitchFamily="34" charset="-122"/>
                <a:cs typeface="Georgia" pitchFamily="34" charset="-120"/>
              </a:rPr>
              <a:t>1.8%</a:t>
            </a:r>
          </a:p>
          <a:p>
            <a:pPr algn="ctr"/>
            <a:r>
              <a:rPr lang="en-US" sz="900" dirty="0">
                <a:solidFill>
                  <a:srgbClr val="6B7280"/>
                </a:solidFill>
                <a:latin typeface="Calibri" pitchFamily="34" charset="0"/>
                <a:ea typeface="Calibri" pitchFamily="34" charset="-122"/>
                <a:cs typeface="Calibri" pitchFamily="34" charset="-120"/>
              </a:rPr>
              <a:t>Step 2 — Mediators only</a:t>
            </a:r>
            <a:endParaRPr lang="en-US" sz="900" dirty="0"/>
          </a:p>
          <a:p>
            <a:pPr algn="ctr"/>
            <a:endParaRPr lang="en-US" dirty="0"/>
          </a:p>
          <a:p>
            <a:pPr algn="ctr"/>
            <a:endParaRPr lang="en-US" dirty="0"/>
          </a:p>
        </p:txBody>
      </p:sp>
      <p:sp>
        <p:nvSpPr>
          <p:cNvPr id="2" name="Shape 0"/>
          <p:cNvSpPr/>
          <p:nvPr/>
        </p:nvSpPr>
        <p:spPr>
          <a:xfrm>
            <a:off x="365760" y="164592"/>
            <a:ext cx="1005840" cy="475488"/>
          </a:xfrm>
          <a:prstGeom prst="rect">
            <a:avLst/>
          </a:prstGeom>
          <a:solidFill>
            <a:srgbClr val="E6922A"/>
          </a:solidFill>
          <a:ln w="12700">
            <a:solidFill>
              <a:srgbClr val="E6922A"/>
            </a:solidFill>
            <a:prstDash val="solid"/>
          </a:ln>
        </p:spPr>
      </p:sp>
      <p:sp>
        <p:nvSpPr>
          <p:cNvPr id="3" name="Text 1"/>
          <p:cNvSpPr/>
          <p:nvPr/>
        </p:nvSpPr>
        <p:spPr>
          <a:xfrm>
            <a:off x="365760" y="164592"/>
            <a:ext cx="100584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H1</a:t>
            </a:r>
            <a:endParaRPr lang="en-US" sz="1800" dirty="0"/>
          </a:p>
        </p:txBody>
      </p:sp>
      <p:sp>
        <p:nvSpPr>
          <p:cNvPr id="4" name="Text 2"/>
          <p:cNvSpPr/>
          <p:nvPr/>
        </p:nvSpPr>
        <p:spPr>
          <a:xfrm>
            <a:off x="1508760" y="192024"/>
            <a:ext cx="5852160" cy="420624"/>
          </a:xfrm>
          <a:prstGeom prst="rect">
            <a:avLst/>
          </a:prstGeom>
          <a:noFill/>
          <a:ln/>
        </p:spPr>
        <p:txBody>
          <a:bodyPr wrap="square"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Network Topology Hypothesis</a:t>
            </a:r>
            <a:endParaRPr lang="en-US" sz="1800" dirty="0"/>
          </a:p>
        </p:txBody>
      </p:sp>
      <p:sp>
        <p:nvSpPr>
          <p:cNvPr id="5" name="Shape 3"/>
          <p:cNvSpPr/>
          <p:nvPr/>
        </p:nvSpPr>
        <p:spPr>
          <a:xfrm>
            <a:off x="7452360" y="164592"/>
            <a:ext cx="1463040" cy="475488"/>
          </a:xfrm>
          <a:prstGeom prst="rect">
            <a:avLst/>
          </a:prstGeom>
          <a:solidFill>
            <a:srgbClr val="E74C3C"/>
          </a:solidFill>
          <a:ln w="12700">
            <a:solidFill>
              <a:srgbClr val="E74C3C"/>
            </a:solidFill>
            <a:prstDash val="solid"/>
          </a:ln>
        </p:spPr>
      </p:sp>
      <p:sp>
        <p:nvSpPr>
          <p:cNvPr id="6" name="Text 4"/>
          <p:cNvSpPr/>
          <p:nvPr/>
        </p:nvSpPr>
        <p:spPr>
          <a:xfrm>
            <a:off x="7452360" y="164592"/>
            <a:ext cx="146304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X NOT CONFIRMED</a:t>
            </a:r>
            <a:endParaRPr lang="en-US" sz="800" dirty="0"/>
          </a:p>
        </p:txBody>
      </p:sp>
      <p:sp>
        <p:nvSpPr>
          <p:cNvPr id="7" name="Text 5"/>
          <p:cNvSpPr/>
          <p:nvPr/>
        </p:nvSpPr>
        <p:spPr>
          <a:xfrm>
            <a:off x="365760" y="713232"/>
            <a:ext cx="8412480" cy="256032"/>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Is knowledge about Edubba distributed as a hierarchy — roots (Step 1) → branches (Step 2/3)?</a:t>
            </a:r>
            <a:endParaRPr lang="en-US" sz="1050" dirty="0"/>
          </a:p>
        </p:txBody>
      </p:sp>
      <p:pic>
        <p:nvPicPr>
          <p:cNvPr id="8" name="Image 0" descr="preencoded.png"/>
          <p:cNvPicPr>
            <a:picLocks noChangeAspect="1"/>
          </p:cNvPicPr>
          <p:nvPr/>
        </p:nvPicPr>
        <p:blipFill>
          <a:blip r:embed="rId3"/>
          <a:srcRect/>
          <a:stretch/>
        </p:blipFill>
        <p:spPr>
          <a:xfrm>
            <a:off x="274320" y="1005840"/>
            <a:ext cx="5943600" cy="3630168"/>
          </a:xfrm>
          <a:prstGeom prst="rect">
            <a:avLst/>
          </a:prstGeom>
        </p:spPr>
      </p:pic>
      <p:sp>
        <p:nvSpPr>
          <p:cNvPr id="9" name="Shape 6"/>
          <p:cNvSpPr/>
          <p:nvPr/>
        </p:nvSpPr>
        <p:spPr>
          <a:xfrm>
            <a:off x="6355080" y="1005840"/>
            <a:ext cx="2514600" cy="2221992"/>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txBody>
          <a:bodyPr/>
          <a:lstStyle/>
          <a:p>
            <a:endParaRPr lang="en-US" dirty="0"/>
          </a:p>
        </p:txBody>
      </p:sp>
      <p:sp>
        <p:nvSpPr>
          <p:cNvPr id="10" name="Text 7"/>
          <p:cNvSpPr/>
          <p:nvPr/>
        </p:nvSpPr>
        <p:spPr>
          <a:xfrm>
            <a:off x="6446520" y="1115568"/>
            <a:ext cx="2331720" cy="292608"/>
          </a:xfrm>
          <a:prstGeom prst="rect">
            <a:avLst/>
          </a:prstGeom>
          <a:noFill/>
          <a:ln/>
        </p:spPr>
        <p:txBody>
          <a:bodyPr wrap="square" rtlCol="0" anchor="ctr"/>
          <a:lstStyle/>
          <a:p>
            <a:pPr marL="0" indent="0">
              <a:buNone/>
            </a:pPr>
            <a:r>
              <a:rPr lang="en-US" sz="1200" b="1" dirty="0">
                <a:solidFill>
                  <a:srgbClr val="1A1F2E"/>
                </a:solidFill>
                <a:latin typeface="Georgia" pitchFamily="34" charset="0"/>
                <a:ea typeface="Georgia" pitchFamily="34" charset="-122"/>
                <a:cs typeface="Georgia" pitchFamily="34" charset="-120"/>
              </a:rPr>
              <a:t>How to Read</a:t>
            </a:r>
            <a:endParaRPr lang="en-US" sz="1200" dirty="0"/>
          </a:p>
        </p:txBody>
      </p:sp>
      <p:sp>
        <p:nvSpPr>
          <p:cNvPr id="11" name="Text 8"/>
          <p:cNvSpPr/>
          <p:nvPr/>
        </p:nvSpPr>
        <p:spPr>
          <a:xfrm>
            <a:off x="6446519" y="1384040"/>
            <a:ext cx="2331720" cy="1728216"/>
          </a:xfrm>
          <a:prstGeom prst="rect">
            <a:avLst/>
          </a:prstGeom>
          <a:noFill/>
          <a:ln/>
        </p:spPr>
        <p:txBody>
          <a:bodyPr wrap="square" rtlCol="0" anchor="t"/>
          <a:lstStyle/>
          <a:p>
            <a:r>
              <a:rPr lang="en-US" sz="900" dirty="0"/>
              <a:t> Read Panel A left to right: Step 1 through Step 5. A hierarchical structure would produce a roughly bell-shaped or pyramid distribution — comparable bars for Steps 1–4 with Step 5 smaller. Instead, the bar for Step 5 dominates visually (n = 1,673, 79.6%), while Steps 2 and 4 are barely visible. Panel B reinforces this: the near-total grey segment of Step 5 makes the imbalance immediately apparent. The green annotation marks what would be expected in a hierarchy, the red annotation marks the actual result</a:t>
            </a:r>
          </a:p>
        </p:txBody>
      </p:sp>
      <p:sp>
        <p:nvSpPr>
          <p:cNvPr id="12" name="Text 9"/>
          <p:cNvSpPr/>
          <p:nvPr/>
        </p:nvSpPr>
        <p:spPr>
          <a:xfrm>
            <a:off x="6446520" y="1993392"/>
            <a:ext cx="2331720" cy="27432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a:t>
            </a:r>
            <a:endParaRPr lang="en-US" sz="900" dirty="0"/>
          </a:p>
        </p:txBody>
      </p:sp>
      <p:sp>
        <p:nvSpPr>
          <p:cNvPr id="13" name="Text 10"/>
          <p:cNvSpPr/>
          <p:nvPr/>
        </p:nvSpPr>
        <p:spPr>
          <a:xfrm>
            <a:off x="6446520" y="2514600"/>
            <a:ext cx="2331720" cy="502920"/>
          </a:xfrm>
          <a:prstGeom prst="rect">
            <a:avLst/>
          </a:prstGeom>
          <a:noFill/>
          <a:ln/>
        </p:spPr>
        <p:txBody>
          <a:bodyPr wrap="square" rtlCol="0" anchor="ctr"/>
          <a:lstStyle/>
          <a:p>
            <a:pPr marL="0" indent="0" algn="ctr">
              <a:buNone/>
            </a:pPr>
            <a:endParaRPr lang="en-US" sz="2600" dirty="0"/>
          </a:p>
        </p:txBody>
      </p:sp>
      <p:sp>
        <p:nvSpPr>
          <p:cNvPr id="14" name="Text 11"/>
          <p:cNvSpPr/>
          <p:nvPr/>
        </p:nvSpPr>
        <p:spPr>
          <a:xfrm>
            <a:off x="6446520" y="2999232"/>
            <a:ext cx="2331720" cy="274320"/>
          </a:xfrm>
          <a:prstGeom prst="rect">
            <a:avLst/>
          </a:prstGeom>
          <a:noFill/>
          <a:ln/>
        </p:spPr>
        <p:txBody>
          <a:bodyPr wrap="square" rtlCol="0" anchor="ctr"/>
          <a:lstStyle/>
          <a:p>
            <a:pPr marL="0" indent="0" algn="ctr">
              <a:buNone/>
            </a:pPr>
            <a:endParaRPr lang="en-US" sz="900" dirty="0"/>
          </a:p>
        </p:txBody>
      </p:sp>
      <p:sp>
        <p:nvSpPr>
          <p:cNvPr id="15" name="Text 12"/>
          <p:cNvSpPr/>
          <p:nvPr/>
        </p:nvSpPr>
        <p:spPr>
          <a:xfrm>
            <a:off x="6446520" y="3310128"/>
            <a:ext cx="2331720" cy="571500"/>
          </a:xfrm>
          <a:prstGeom prst="rect">
            <a:avLst/>
          </a:prstGeom>
          <a:noFill/>
          <a:ln/>
        </p:spPr>
        <p:txBody>
          <a:bodyPr wrap="square" rtlCol="0" anchor="ctr"/>
          <a:lstStyle/>
          <a:p>
            <a:pPr marL="0" indent="0" algn="ctr">
              <a:buNone/>
            </a:pPr>
            <a:r>
              <a:rPr lang="en-US" sz="800" dirty="0">
                <a:solidFill>
                  <a:srgbClr val="374151"/>
                </a:solidFill>
                <a:latin typeface="Calibri" pitchFamily="34" charset="0"/>
              </a:rPr>
              <a:t>.</a:t>
            </a:r>
            <a:endParaRPr lang="en-US" sz="2600" dirty="0"/>
          </a:p>
        </p:txBody>
      </p:sp>
      <p:sp>
        <p:nvSpPr>
          <p:cNvPr id="16" name="Text 13"/>
          <p:cNvSpPr/>
          <p:nvPr/>
        </p:nvSpPr>
        <p:spPr>
          <a:xfrm>
            <a:off x="6446520" y="3322568"/>
            <a:ext cx="2331720" cy="764800"/>
          </a:xfrm>
          <a:prstGeom prst="rect">
            <a:avLst/>
          </a:prstGeom>
          <a:noFill/>
          <a:ln/>
        </p:spPr>
        <p:txBody>
          <a:bodyPr wrap="square" rtlCol="0" anchor="ctr"/>
          <a:lstStyle/>
          <a:p>
            <a:pPr marL="0" indent="0" algn="ctr">
              <a:buNone/>
            </a:pPr>
            <a:endParaRPr lang="en-US" sz="900" dirty="0"/>
          </a:p>
        </p:txBody>
      </p:sp>
      <p:sp>
        <p:nvSpPr>
          <p:cNvPr id="17" name="Text 14"/>
          <p:cNvSpPr/>
          <p:nvPr/>
        </p:nvSpPr>
        <p:spPr>
          <a:xfrm>
            <a:off x="365761" y="4758364"/>
            <a:ext cx="5852160" cy="220544"/>
          </a:xfrm>
          <a:prstGeom prst="rect">
            <a:avLst/>
          </a:prstGeom>
          <a:noFill/>
          <a:ln/>
        </p:spPr>
        <p:txBody>
          <a:bodyPr wrap="square" rtlCol="0" anchor="ctr"/>
          <a:lstStyle/>
          <a:p>
            <a:pPr marL="0" indent="0">
              <a:buNone/>
            </a:pPr>
            <a:r>
              <a:rPr lang="en-US" sz="750" b="1" dirty="0">
                <a:solidFill>
                  <a:srgbClr val="374151"/>
                </a:solidFill>
                <a:latin typeface="Calibri" pitchFamily="34" charset="0"/>
                <a:ea typeface="Calibri" pitchFamily="34" charset="-122"/>
                <a:cs typeface="Calibri" pitchFamily="34" charset="-120"/>
              </a:rPr>
              <a:t>Key Finding: network is NOT a tree — sparse, scattered, 79.6% peripheral</a:t>
            </a:r>
            <a:endParaRPr lang="en-US" sz="750" b="1" dirty="0"/>
          </a:p>
        </p:txBody>
      </p:sp>
      <p:sp>
        <p:nvSpPr>
          <p:cNvPr id="18" name="Text 15"/>
          <p:cNvSpPr/>
          <p:nvPr/>
        </p:nvSpPr>
        <p:spPr>
          <a:xfrm>
            <a:off x="365760" y="4636008"/>
            <a:ext cx="8412480" cy="220544"/>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Design: Bar chart (position on common scale) for Compare task · Donut for part-of-whole · (Cleveland &amp; McGill, 1984)</a:t>
            </a:r>
            <a:endParaRPr lang="en-US" sz="750" dirty="0"/>
          </a:p>
        </p:txBody>
      </p:sp>
      <p:sp>
        <p:nvSpPr>
          <p:cNvPr id="19" name="Text 16"/>
          <p:cNvSpPr/>
          <p:nvPr/>
        </p:nvSpPr>
        <p:spPr>
          <a:xfrm>
            <a:off x="365760" y="4919472"/>
            <a:ext cx="8412480" cy="182880"/>
          </a:xfrm>
          <a:prstGeom prst="rect">
            <a:avLst/>
          </a:prstGeom>
          <a:noFill/>
          <a:ln/>
        </p:spPr>
        <p:txBody>
          <a:bodyPr wrap="square" rtlCol="0" anchor="ctr"/>
          <a:lstStyle/>
          <a:p>
            <a:pPr marL="0" indent="0">
              <a:buNone/>
            </a:pPr>
            <a:r>
              <a:rPr lang="en-US" sz="700" dirty="0">
                <a:solidFill>
                  <a:srgbClr val="D1D5DB"/>
                </a:solidFill>
                <a:latin typeface="Calibri" pitchFamily="34" charset="0"/>
                <a:ea typeface="Calibri" pitchFamily="34" charset="-122"/>
                <a:cs typeface="Calibri" pitchFamily="34" charset="-120"/>
              </a:rPr>
              <a:t>Source: sources_withAll_steps_v2_LABELED.csv | citation_graph.csv</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365760" y="164592"/>
            <a:ext cx="1005840" cy="475488"/>
          </a:xfrm>
          <a:prstGeom prst="rect">
            <a:avLst/>
          </a:prstGeom>
          <a:solidFill>
            <a:srgbClr val="E6922A"/>
          </a:solidFill>
          <a:ln w="12700">
            <a:solidFill>
              <a:srgbClr val="E6922A"/>
            </a:solidFill>
            <a:prstDash val="solid"/>
          </a:ln>
        </p:spPr>
      </p:sp>
      <p:sp>
        <p:nvSpPr>
          <p:cNvPr id="3" name="Text 1"/>
          <p:cNvSpPr/>
          <p:nvPr/>
        </p:nvSpPr>
        <p:spPr>
          <a:xfrm>
            <a:off x="365760" y="164592"/>
            <a:ext cx="100584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H2</a:t>
            </a:r>
            <a:endParaRPr lang="en-US" sz="1800" dirty="0"/>
          </a:p>
        </p:txBody>
      </p:sp>
      <p:sp>
        <p:nvSpPr>
          <p:cNvPr id="4" name="Text 2"/>
          <p:cNvSpPr/>
          <p:nvPr/>
        </p:nvSpPr>
        <p:spPr>
          <a:xfrm>
            <a:off x="1508760" y="192024"/>
            <a:ext cx="5852160" cy="420624"/>
          </a:xfrm>
          <a:prstGeom prst="rect">
            <a:avLst/>
          </a:prstGeom>
          <a:noFill/>
          <a:ln/>
        </p:spPr>
        <p:txBody>
          <a:bodyPr wrap="square"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Structural Gap Hypothesis</a:t>
            </a:r>
            <a:endParaRPr lang="en-US" sz="1800" dirty="0"/>
          </a:p>
        </p:txBody>
      </p:sp>
      <p:sp>
        <p:nvSpPr>
          <p:cNvPr id="5" name="Shape 3"/>
          <p:cNvSpPr/>
          <p:nvPr/>
        </p:nvSpPr>
        <p:spPr>
          <a:xfrm>
            <a:off x="7452360" y="164592"/>
            <a:ext cx="1463040" cy="475488"/>
          </a:xfrm>
          <a:prstGeom prst="rect">
            <a:avLst/>
          </a:prstGeom>
          <a:solidFill>
            <a:srgbClr val="27AE60"/>
          </a:solidFill>
          <a:ln w="12700">
            <a:solidFill>
              <a:srgbClr val="27AE60"/>
            </a:solidFill>
            <a:prstDash val="solid"/>
          </a:ln>
        </p:spPr>
      </p:sp>
      <p:sp>
        <p:nvSpPr>
          <p:cNvPr id="6" name="Text 4"/>
          <p:cNvSpPr/>
          <p:nvPr/>
        </p:nvSpPr>
        <p:spPr>
          <a:xfrm>
            <a:off x="7452360" y="164592"/>
            <a:ext cx="146304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 CONFIRMED</a:t>
            </a:r>
            <a:endParaRPr lang="en-US" sz="800" dirty="0"/>
          </a:p>
        </p:txBody>
      </p:sp>
      <p:sp>
        <p:nvSpPr>
          <p:cNvPr id="7" name="Text 5"/>
          <p:cNvSpPr/>
          <p:nvPr/>
        </p:nvSpPr>
        <p:spPr>
          <a:xfrm>
            <a:off x="365760" y="713232"/>
            <a:ext cx="8412480" cy="256032"/>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Are primary archaeological sources (Step 1) structurally isolated from authoritative works (Step 3)?</a:t>
            </a:r>
            <a:endParaRPr lang="en-US" sz="1050" dirty="0"/>
          </a:p>
        </p:txBody>
      </p:sp>
      <p:pic>
        <p:nvPicPr>
          <p:cNvPr id="8" name="Image 0" descr="preencoded.png"/>
          <p:cNvPicPr>
            <a:picLocks noChangeAspect="1"/>
          </p:cNvPicPr>
          <p:nvPr/>
        </p:nvPicPr>
        <p:blipFill>
          <a:blip r:embed="rId3"/>
          <a:srcRect/>
          <a:stretch/>
        </p:blipFill>
        <p:spPr>
          <a:xfrm>
            <a:off x="274321" y="987552"/>
            <a:ext cx="5974080" cy="3346704"/>
          </a:xfrm>
          <a:prstGeom prst="rect">
            <a:avLst/>
          </a:prstGeom>
        </p:spPr>
      </p:pic>
      <p:sp>
        <p:nvSpPr>
          <p:cNvPr id="9" name="Shape 6"/>
          <p:cNvSpPr/>
          <p:nvPr/>
        </p:nvSpPr>
        <p:spPr>
          <a:xfrm>
            <a:off x="6366934" y="987552"/>
            <a:ext cx="2411306" cy="2192272"/>
          </a:xfrm>
          <a:prstGeom prst="rect">
            <a:avLst/>
          </a:prstGeom>
          <a:solidFill>
            <a:schemeClr val="bg1"/>
          </a:solidFill>
          <a:ln w="12700">
            <a:solidFill>
              <a:srgbClr val="E6922A"/>
            </a:solidFill>
            <a:prstDash val="solid"/>
          </a:ln>
        </p:spPr>
        <p:txBody>
          <a:bodyPr/>
          <a:lstStyle/>
          <a:p>
            <a:r>
              <a:rPr lang="en-US" sz="1200" b="1" dirty="0">
                <a:solidFill>
                  <a:srgbClr val="1A1F2E"/>
                </a:solidFill>
                <a:latin typeface="Georgia" panose="02040502050405020303" pitchFamily="18" charset="0"/>
                <a:ea typeface="Georgia" pitchFamily="34" charset="-122"/>
                <a:cs typeface="Georgia" pitchFamily="34" charset="-120"/>
              </a:rPr>
              <a:t>How to Read</a:t>
            </a:r>
            <a:endParaRPr lang="en-US" sz="1200" dirty="0">
              <a:latin typeface="Georgia" panose="02040502050405020303" pitchFamily="18" charset="0"/>
            </a:endParaRPr>
          </a:p>
          <a:p>
            <a:endParaRPr lang="en-US" dirty="0"/>
          </a:p>
        </p:txBody>
      </p:sp>
      <p:sp>
        <p:nvSpPr>
          <p:cNvPr id="11" name="Text 8"/>
          <p:cNvSpPr/>
          <p:nvPr/>
        </p:nvSpPr>
        <p:spPr>
          <a:xfrm>
            <a:off x="365760" y="4663440"/>
            <a:ext cx="8412480" cy="25603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Design: Bar chart (Panel A — Compare) · Horizontal bar (Panel B — proportions) · Node-link graph (Panel C — topological gap is the visual finding itself)</a:t>
            </a:r>
            <a:endParaRPr lang="en-US" sz="750" dirty="0"/>
          </a:p>
        </p:txBody>
      </p:sp>
      <p:sp>
        <p:nvSpPr>
          <p:cNvPr id="12" name="Text 9"/>
          <p:cNvSpPr/>
          <p:nvPr/>
        </p:nvSpPr>
        <p:spPr>
          <a:xfrm>
            <a:off x="365760" y="4919472"/>
            <a:ext cx="8412480" cy="182880"/>
          </a:xfrm>
          <a:prstGeom prst="rect">
            <a:avLst/>
          </a:prstGeom>
          <a:noFill/>
          <a:ln/>
        </p:spPr>
        <p:txBody>
          <a:bodyPr wrap="square" rtlCol="0" anchor="ctr"/>
          <a:lstStyle/>
          <a:p>
            <a:pPr marL="0" indent="0">
              <a:buNone/>
            </a:pPr>
            <a:r>
              <a:rPr lang="en-US" sz="700" dirty="0">
                <a:solidFill>
                  <a:srgbClr val="D1D5DB"/>
                </a:solidFill>
                <a:latin typeface="Calibri" pitchFamily="34" charset="0"/>
                <a:ea typeface="Calibri" pitchFamily="34" charset="-122"/>
                <a:cs typeface="Calibri" pitchFamily="34" charset="-120"/>
              </a:rPr>
              <a:t>Source: epistemic_communities2.csv · N = 400 (subgraph, Steps 1–3)</a:t>
            </a:r>
            <a:endParaRPr lang="en-US" sz="700" dirty="0"/>
          </a:p>
        </p:txBody>
      </p:sp>
      <p:sp>
        <p:nvSpPr>
          <p:cNvPr id="16" name="Shape 6">
            <a:extLst>
              <a:ext uri="{FF2B5EF4-FFF2-40B4-BE49-F238E27FC236}">
                <a16:creationId xmlns:a16="http://schemas.microsoft.com/office/drawing/2014/main" id="{97AE4243-05FC-6C4A-A121-DE6F0CDD2512}"/>
              </a:ext>
            </a:extLst>
          </p:cNvPr>
          <p:cNvSpPr/>
          <p:nvPr/>
        </p:nvSpPr>
        <p:spPr>
          <a:xfrm>
            <a:off x="6366934" y="3362704"/>
            <a:ext cx="2411306" cy="971552"/>
          </a:xfrm>
          <a:prstGeom prst="rect">
            <a:avLst/>
          </a:prstGeom>
          <a:solidFill>
            <a:srgbClr val="FFF8E1"/>
          </a:solidFill>
          <a:ln w="9525">
            <a:solidFill>
              <a:srgbClr val="E6922A"/>
            </a:solidFill>
            <a:prstDash val="solid"/>
          </a:ln>
        </p:spPr>
        <p:txBody>
          <a:bodyPr/>
          <a:lstStyle/>
          <a:p>
            <a:r>
              <a:rPr lang="en-US" sz="1000" b="1" dirty="0">
                <a:solidFill>
                  <a:schemeClr val="accent2"/>
                </a:solidFill>
                <a:ea typeface="Calibri" pitchFamily="34" charset="-122"/>
                <a:cs typeface="Calibri" pitchFamily="34" charset="-120"/>
              </a:rPr>
              <a:t>All 137 Step 1 nodes</a:t>
            </a:r>
            <a:r>
              <a:rPr lang="en-US" sz="1000" dirty="0">
                <a:solidFill>
                  <a:srgbClr val="374151"/>
                </a:solidFill>
                <a:ea typeface="Calibri" pitchFamily="34" charset="-122"/>
                <a:cs typeface="Calibri" pitchFamily="34" charset="-120"/>
              </a:rPr>
              <a:t>: betweenness = 0.00. </a:t>
            </a:r>
          </a:p>
          <a:p>
            <a:r>
              <a:rPr lang="en-US" sz="1000" dirty="0">
                <a:solidFill>
                  <a:srgbClr val="374151"/>
                </a:solidFill>
                <a:ea typeface="Calibri" pitchFamily="34" charset="-122"/>
                <a:cs typeface="Calibri" pitchFamily="34" charset="-120"/>
              </a:rPr>
              <a:t>Primary sources are cited but never transit information. </a:t>
            </a:r>
          </a:p>
          <a:p>
            <a:r>
              <a:rPr lang="en-US" sz="1000" dirty="0">
                <a:solidFill>
                  <a:srgbClr val="374151"/>
                </a:solidFill>
                <a:ea typeface="Calibri" pitchFamily="34" charset="-122"/>
                <a:cs typeface="Calibri" pitchFamily="34" charset="-120"/>
              </a:rPr>
              <a:t>No direct connections </a:t>
            </a:r>
          </a:p>
          <a:p>
            <a:r>
              <a:rPr lang="en-US" sz="1000" dirty="0">
                <a:solidFill>
                  <a:srgbClr val="374151"/>
                </a:solidFill>
                <a:ea typeface="Calibri" pitchFamily="34" charset="-122"/>
                <a:cs typeface="Calibri" pitchFamily="34" charset="-120"/>
              </a:rPr>
              <a:t>Step 1 → Step 3 exist</a:t>
            </a:r>
            <a:endParaRPr lang="en-US" dirty="0"/>
          </a:p>
          <a:p>
            <a:endParaRPr lang="en-US" dirty="0"/>
          </a:p>
        </p:txBody>
      </p:sp>
      <p:sp>
        <p:nvSpPr>
          <p:cNvPr id="912" name="HowToRead_txt"/>
          <p:cNvSpPr/>
          <p:nvPr/>
        </p:nvSpPr>
        <p:spPr>
          <a:xfrm>
            <a:off x="6366934" y="1420000"/>
            <a:ext cx="2411306" cy="1551800"/>
          </a:xfrm>
          <a:prstGeom prst="rect">
            <a:avLst/>
          </a:prstGeom>
          <a:noFill/>
          <a:ln/>
        </p:spPr>
        <p:txBody>
          <a:bodyPr wrap="square" rtlCol="0" anchor="t"/>
          <a:lstStyle/>
          <a:p>
            <a:r>
              <a:rPr lang="en-US" sz="900" dirty="0"/>
              <a:t>In Panel A: compare bar heights across the three steps. Step 2 (pale amber bar) should be visibly taller. </a:t>
            </a:r>
          </a:p>
          <a:p>
            <a:r>
              <a:rPr lang="en-US" sz="900" dirty="0"/>
              <a:t>In Panel B: the near-total fill for Steps 1 and 3 (100% and 99.6% betweenness = 0) versus Step 2 confirms structural isolation. </a:t>
            </a:r>
          </a:p>
          <a:p>
            <a:r>
              <a:rPr lang="en-US" sz="900" dirty="0"/>
              <a:t>In Panel C: locate the pale terracotta (red) cluster of Step 1 nodes and the pale blue cluster of Step 3 nodes — observe the spatial separation. Pale amber triangles (Step 2) act as the only visible bridge.</a:t>
            </a:r>
            <a:r>
              <a:rPr lang="en-US" sz="900" dirty="0">
                <a:solidFill>
                  <a:srgbClr val="374151"/>
                </a:solidFill>
                <a:latin typeface="Calibri" pitchFamily="34"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15" name="Shape 6">
            <a:extLst>
              <a:ext uri="{FF2B5EF4-FFF2-40B4-BE49-F238E27FC236}">
                <a16:creationId xmlns:a16="http://schemas.microsoft.com/office/drawing/2014/main" id="{26E4EED8-4913-2B47-9FFC-A9DD8C4DDD48}"/>
              </a:ext>
            </a:extLst>
          </p:cNvPr>
          <p:cNvSpPr/>
          <p:nvPr/>
        </p:nvSpPr>
        <p:spPr>
          <a:xfrm>
            <a:off x="7062892" y="1005839"/>
            <a:ext cx="1806787" cy="1133961"/>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txBody>
          <a:bodyPr/>
          <a:lstStyle/>
          <a:p>
            <a:r>
              <a:rPr lang="en-US" sz="1200" b="1" dirty="0">
                <a:solidFill>
                  <a:srgbClr val="1A1F2E"/>
                </a:solidFill>
                <a:latin typeface="Georgia" pitchFamily="34" charset="0"/>
                <a:ea typeface="Georgia" pitchFamily="34" charset="-122"/>
                <a:cs typeface="Georgia" pitchFamily="34" charset="-120"/>
              </a:rPr>
              <a:t>How to Read</a:t>
            </a:r>
            <a:endParaRPr lang="en-US" sz="1200" dirty="0"/>
          </a:p>
          <a:p>
            <a:endParaRPr lang="en-US" dirty="0"/>
          </a:p>
        </p:txBody>
      </p:sp>
      <p:sp>
        <p:nvSpPr>
          <p:cNvPr id="2" name="Shape 0"/>
          <p:cNvSpPr/>
          <p:nvPr/>
        </p:nvSpPr>
        <p:spPr>
          <a:xfrm>
            <a:off x="365760" y="164592"/>
            <a:ext cx="1005840" cy="475488"/>
          </a:xfrm>
          <a:prstGeom prst="rect">
            <a:avLst/>
          </a:prstGeom>
          <a:solidFill>
            <a:srgbClr val="E6922A"/>
          </a:solidFill>
          <a:ln w="12700">
            <a:solidFill>
              <a:srgbClr val="E6922A"/>
            </a:solidFill>
            <a:prstDash val="solid"/>
          </a:ln>
        </p:spPr>
      </p:sp>
      <p:sp>
        <p:nvSpPr>
          <p:cNvPr id="3" name="Text 1"/>
          <p:cNvSpPr/>
          <p:nvPr/>
        </p:nvSpPr>
        <p:spPr>
          <a:xfrm>
            <a:off x="365760" y="164592"/>
            <a:ext cx="100584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H3</a:t>
            </a:r>
            <a:endParaRPr lang="en-US" sz="1800" dirty="0"/>
          </a:p>
        </p:txBody>
      </p:sp>
      <p:sp>
        <p:nvSpPr>
          <p:cNvPr id="4" name="Text 2"/>
          <p:cNvSpPr/>
          <p:nvPr/>
        </p:nvSpPr>
        <p:spPr>
          <a:xfrm>
            <a:off x="1508760" y="192024"/>
            <a:ext cx="5852160" cy="420624"/>
          </a:xfrm>
          <a:prstGeom prst="rect">
            <a:avLst/>
          </a:prstGeom>
          <a:noFill/>
          <a:ln/>
        </p:spPr>
        <p:txBody>
          <a:bodyPr wrap="square"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Bottleneck Hypothesis</a:t>
            </a:r>
            <a:endParaRPr lang="en-US" sz="1800" dirty="0"/>
          </a:p>
        </p:txBody>
      </p:sp>
      <p:sp>
        <p:nvSpPr>
          <p:cNvPr id="5" name="Shape 3"/>
          <p:cNvSpPr/>
          <p:nvPr/>
        </p:nvSpPr>
        <p:spPr>
          <a:xfrm>
            <a:off x="7452360" y="164592"/>
            <a:ext cx="1463040" cy="475488"/>
          </a:xfrm>
          <a:prstGeom prst="rect">
            <a:avLst/>
          </a:prstGeom>
          <a:solidFill>
            <a:srgbClr val="27AE60"/>
          </a:solidFill>
          <a:ln w="12700">
            <a:solidFill>
              <a:srgbClr val="27AE60"/>
            </a:solidFill>
            <a:prstDash val="solid"/>
          </a:ln>
        </p:spPr>
      </p:sp>
      <p:sp>
        <p:nvSpPr>
          <p:cNvPr id="6" name="Text 4"/>
          <p:cNvSpPr/>
          <p:nvPr/>
        </p:nvSpPr>
        <p:spPr>
          <a:xfrm>
            <a:off x="7452360" y="164592"/>
            <a:ext cx="146304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 CONFIRMED</a:t>
            </a:r>
            <a:endParaRPr lang="en-US" sz="800" dirty="0"/>
          </a:p>
        </p:txBody>
      </p:sp>
      <p:sp>
        <p:nvSpPr>
          <p:cNvPr id="7" name="Text 5"/>
          <p:cNvSpPr/>
          <p:nvPr/>
        </p:nvSpPr>
        <p:spPr>
          <a:xfrm>
            <a:off x="365760" y="713232"/>
            <a:ext cx="8412480" cy="256032"/>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Is Step 2 the only structural bridge between Step 1 and Step 3? Is it robust to threshold changes?</a:t>
            </a:r>
            <a:endParaRPr lang="en-US" sz="1050" dirty="0"/>
          </a:p>
        </p:txBody>
      </p:sp>
      <p:pic>
        <p:nvPicPr>
          <p:cNvPr id="8" name="Image 0" descr="preencoded.png"/>
          <p:cNvPicPr>
            <a:picLocks noChangeAspect="1"/>
          </p:cNvPicPr>
          <p:nvPr/>
        </p:nvPicPr>
        <p:blipFill>
          <a:blip r:embed="rId3"/>
          <a:srcRect/>
          <a:stretch/>
        </p:blipFill>
        <p:spPr>
          <a:xfrm>
            <a:off x="274320" y="987552"/>
            <a:ext cx="6651413" cy="3337560"/>
          </a:xfrm>
          <a:prstGeom prst="rect">
            <a:avLst/>
          </a:prstGeom>
        </p:spPr>
      </p:pic>
      <p:sp>
        <p:nvSpPr>
          <p:cNvPr id="9" name="Shape 6"/>
          <p:cNvSpPr/>
          <p:nvPr/>
        </p:nvSpPr>
        <p:spPr>
          <a:xfrm>
            <a:off x="7062892" y="2304506"/>
            <a:ext cx="1806787" cy="823977"/>
          </a:xfrm>
          <a:prstGeom prst="rect">
            <a:avLst/>
          </a:prstGeom>
          <a:solidFill>
            <a:srgbClr val="FFF8E1"/>
          </a:solidFill>
          <a:ln w="12700">
            <a:solidFill>
              <a:srgbClr val="E6922A"/>
            </a:solidFill>
            <a:prstDash val="solid"/>
          </a:ln>
        </p:spPr>
      </p:sp>
      <p:sp>
        <p:nvSpPr>
          <p:cNvPr id="10" name="Text 7"/>
          <p:cNvSpPr/>
          <p:nvPr/>
        </p:nvSpPr>
        <p:spPr>
          <a:xfrm>
            <a:off x="7062891" y="2315822"/>
            <a:ext cx="1806787" cy="823978"/>
          </a:xfrm>
          <a:prstGeom prst="rect">
            <a:avLst/>
          </a:prstGeom>
          <a:noFill/>
          <a:ln/>
        </p:spPr>
        <p:txBody>
          <a:bodyPr wrap="square" rtlCol="0" anchor="ctr"/>
          <a:lstStyle/>
          <a:p>
            <a:pPr marL="0" indent="0">
              <a:buNone/>
            </a:pPr>
            <a:r>
              <a:rPr lang="en-US" sz="950" b="1" dirty="0">
                <a:solidFill>
                  <a:srgbClr val="E6922A"/>
                </a:solidFill>
                <a:latin typeface="Calibri" pitchFamily="34" charset="0"/>
                <a:ea typeface="Calibri" pitchFamily="34" charset="-122"/>
                <a:cs typeface="Calibri" pitchFamily="34" charset="-120"/>
              </a:rPr>
              <a:t>37 nodes (1.8%) </a:t>
            </a:r>
            <a:r>
              <a:rPr lang="en-US" sz="950" dirty="0">
                <a:solidFill>
                  <a:srgbClr val="374151"/>
                </a:solidFill>
                <a:latin typeface="Calibri" pitchFamily="34" charset="0"/>
                <a:ea typeface="Calibri" pitchFamily="34" charset="-122"/>
                <a:cs typeface="Calibri" pitchFamily="34" charset="-120"/>
              </a:rPr>
              <a:t>= entire bridge Step 1 → Step 3. Top 5 carry 77% of all Step 2 betweenness.</a:t>
            </a:r>
            <a:endParaRPr lang="en-US" sz="950" dirty="0"/>
          </a:p>
        </p:txBody>
      </p:sp>
      <p:sp>
        <p:nvSpPr>
          <p:cNvPr id="11" name="Shape 8"/>
          <p:cNvSpPr/>
          <p:nvPr/>
        </p:nvSpPr>
        <p:spPr>
          <a:xfrm>
            <a:off x="7062892" y="3200000"/>
            <a:ext cx="1806786" cy="823977"/>
          </a:xfrm>
          <a:prstGeom prst="rect">
            <a:avLst/>
          </a:prstGeom>
          <a:solidFill>
            <a:srgbClr val="E8F8F0"/>
          </a:solidFill>
          <a:ln w="12700">
            <a:solidFill>
              <a:srgbClr val="27AE60"/>
            </a:solidFill>
            <a:prstDash val="solid"/>
          </a:ln>
        </p:spPr>
      </p:sp>
      <p:sp>
        <p:nvSpPr>
          <p:cNvPr id="12" name="Text 9"/>
          <p:cNvSpPr/>
          <p:nvPr/>
        </p:nvSpPr>
        <p:spPr>
          <a:xfrm>
            <a:off x="7062891" y="3200000"/>
            <a:ext cx="1806787" cy="823976"/>
          </a:xfrm>
          <a:prstGeom prst="rect">
            <a:avLst/>
          </a:prstGeom>
          <a:noFill/>
          <a:ln/>
        </p:spPr>
        <p:txBody>
          <a:bodyPr wrap="square" rtlCol="0" anchor="ctr"/>
          <a:lstStyle/>
          <a:p>
            <a:pPr marL="0" indent="0">
              <a:buNone/>
            </a:pPr>
            <a:r>
              <a:rPr lang="en-US" sz="950" b="1" dirty="0">
                <a:solidFill>
                  <a:srgbClr val="27AE60"/>
                </a:solidFill>
                <a:latin typeface="Calibri" pitchFamily="34" charset="0"/>
                <a:ea typeface="Calibri" pitchFamily="34" charset="-122"/>
                <a:cs typeface="Calibri" pitchFamily="34" charset="-120"/>
              </a:rPr>
              <a:t>Sensitivity test: </a:t>
            </a:r>
            <a:r>
              <a:rPr lang="en-US" sz="950" dirty="0">
                <a:solidFill>
                  <a:srgbClr val="374151"/>
                </a:solidFill>
                <a:latin typeface="Calibri" pitchFamily="34" charset="0"/>
                <a:ea typeface="Calibri" pitchFamily="34" charset="-122"/>
                <a:cs typeface="Calibri" pitchFamily="34" charset="-120"/>
              </a:rPr>
              <a:t>With filter = 37 · Without filter = 37. Bottleneck is a REAL structural property, not a threshold artifact.</a:t>
            </a:r>
            <a:endParaRPr lang="en-US" sz="950" dirty="0"/>
          </a:p>
        </p:txBody>
      </p:sp>
      <p:sp>
        <p:nvSpPr>
          <p:cNvPr id="13" name="Text 10"/>
          <p:cNvSpPr/>
          <p:nvPr/>
        </p:nvSpPr>
        <p:spPr>
          <a:xfrm>
            <a:off x="274320" y="4430268"/>
            <a:ext cx="6651413" cy="34493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Design: Horizontal bar (Panel A — Identify Extremes, long source IDs) · Cumulative line (Panel B — concentration, Lorenz curve analogy)</a:t>
            </a:r>
            <a:endParaRPr lang="en-US" sz="750" dirty="0"/>
          </a:p>
        </p:txBody>
      </p:sp>
      <p:sp>
        <p:nvSpPr>
          <p:cNvPr id="14" name="Text 11"/>
          <p:cNvSpPr/>
          <p:nvPr/>
        </p:nvSpPr>
        <p:spPr>
          <a:xfrm>
            <a:off x="365760" y="4919472"/>
            <a:ext cx="8412480" cy="182880"/>
          </a:xfrm>
          <a:prstGeom prst="rect">
            <a:avLst/>
          </a:prstGeom>
          <a:noFill/>
          <a:ln/>
        </p:spPr>
        <p:txBody>
          <a:bodyPr wrap="square" rtlCol="0" anchor="ctr"/>
          <a:lstStyle/>
          <a:p>
            <a:pPr marL="0" indent="0">
              <a:buNone/>
            </a:pPr>
            <a:r>
              <a:rPr lang="en-US" sz="700" dirty="0">
                <a:solidFill>
                  <a:srgbClr val="D1D5DB"/>
                </a:solidFill>
                <a:latin typeface="Calibri" pitchFamily="34" charset="0"/>
                <a:ea typeface="Calibri" pitchFamily="34" charset="-122"/>
                <a:cs typeface="Calibri" pitchFamily="34" charset="-120"/>
              </a:rPr>
              <a:t>Source: epistemic_communities2.csv · N = 400</a:t>
            </a:r>
            <a:endParaRPr lang="en-US" sz="700" dirty="0"/>
          </a:p>
        </p:txBody>
      </p:sp>
      <p:sp>
        <p:nvSpPr>
          <p:cNvPr id="913" name="HowToRead_txt"/>
          <p:cNvSpPr/>
          <p:nvPr/>
        </p:nvSpPr>
        <p:spPr>
          <a:xfrm>
            <a:off x="7062892" y="1234440"/>
            <a:ext cx="1806787" cy="895560"/>
          </a:xfrm>
          <a:prstGeom prst="rect">
            <a:avLst/>
          </a:prstGeom>
          <a:noFill/>
          <a:ln/>
        </p:spPr>
        <p:txBody>
          <a:bodyPr wrap="square" rtlCol="0" anchor="t"/>
          <a:lstStyle/>
          <a:p>
            <a:pPr marL="0" indent="0" algn="l">
              <a:buNone/>
            </a:pPr>
            <a:r>
              <a:rPr lang="en-US" sz="750" dirty="0">
                <a:solidFill>
                  <a:srgbClr val="374151"/>
                </a:solidFill>
                <a:latin typeface="Calibri" pitchFamily="34" charset="0"/>
              </a:rPr>
              <a:t>Panel A: read bars left to right — single amber colour confirms all top-10 betweenness nodes are Step 2. </a:t>
            </a:r>
          </a:p>
          <a:p>
            <a:pPr marL="0" indent="0" algn="l">
              <a:buNone/>
            </a:pPr>
            <a:r>
              <a:rPr lang="en-US" sz="750" dirty="0">
                <a:solidFill>
                  <a:srgbClr val="374151"/>
                </a:solidFill>
                <a:latin typeface="Calibri" pitchFamily="34" charset="0"/>
              </a:rPr>
              <a:t>Panel B: the steeper the cumulative curve, the more concentrated the bottleneck. Top 5 mediators carry 77% of all Step 2 betweenness.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15" name="Shape 6">
            <a:extLst>
              <a:ext uri="{FF2B5EF4-FFF2-40B4-BE49-F238E27FC236}">
                <a16:creationId xmlns:a16="http://schemas.microsoft.com/office/drawing/2014/main" id="{0D72CBCE-B49A-364D-A80A-B1447EC4C6A0}"/>
              </a:ext>
            </a:extLst>
          </p:cNvPr>
          <p:cNvSpPr/>
          <p:nvPr/>
        </p:nvSpPr>
        <p:spPr>
          <a:xfrm>
            <a:off x="6841067" y="983487"/>
            <a:ext cx="2028613" cy="1652276"/>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txBody>
          <a:bodyPr/>
          <a:lstStyle/>
          <a:p>
            <a:r>
              <a:rPr lang="en-US" sz="1200" b="1" dirty="0">
                <a:solidFill>
                  <a:srgbClr val="1A1F2E"/>
                </a:solidFill>
                <a:latin typeface="Georgia" pitchFamily="34" charset="0"/>
                <a:ea typeface="Georgia" pitchFamily="34" charset="-122"/>
                <a:cs typeface="Georgia" pitchFamily="34" charset="-120"/>
              </a:rPr>
              <a:t>How to Read</a:t>
            </a:r>
            <a:endParaRPr lang="en-US" sz="1200" dirty="0"/>
          </a:p>
        </p:txBody>
      </p:sp>
      <p:sp>
        <p:nvSpPr>
          <p:cNvPr id="2" name="Shape 0"/>
          <p:cNvSpPr/>
          <p:nvPr/>
        </p:nvSpPr>
        <p:spPr>
          <a:xfrm>
            <a:off x="365760" y="164592"/>
            <a:ext cx="1005840" cy="475488"/>
          </a:xfrm>
          <a:prstGeom prst="rect">
            <a:avLst/>
          </a:prstGeom>
          <a:solidFill>
            <a:srgbClr val="E6922A"/>
          </a:solidFill>
          <a:ln w="12700">
            <a:solidFill>
              <a:srgbClr val="E6922A"/>
            </a:solidFill>
            <a:prstDash val="solid"/>
          </a:ln>
        </p:spPr>
      </p:sp>
      <p:sp>
        <p:nvSpPr>
          <p:cNvPr id="3" name="Text 1"/>
          <p:cNvSpPr/>
          <p:nvPr/>
        </p:nvSpPr>
        <p:spPr>
          <a:xfrm>
            <a:off x="365760" y="164592"/>
            <a:ext cx="100584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H4</a:t>
            </a:r>
            <a:endParaRPr lang="en-US" sz="1800" dirty="0"/>
          </a:p>
        </p:txBody>
      </p:sp>
      <p:sp>
        <p:nvSpPr>
          <p:cNvPr id="4" name="Text 2"/>
          <p:cNvSpPr/>
          <p:nvPr/>
        </p:nvSpPr>
        <p:spPr>
          <a:xfrm>
            <a:off x="1508760" y="192024"/>
            <a:ext cx="5852160" cy="420624"/>
          </a:xfrm>
          <a:prstGeom prst="rect">
            <a:avLst/>
          </a:prstGeom>
          <a:noFill/>
          <a:ln/>
        </p:spPr>
        <p:txBody>
          <a:bodyPr wrap="square"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Epistemic Displacement Hypothesis</a:t>
            </a:r>
            <a:endParaRPr lang="en-US" sz="1800" dirty="0"/>
          </a:p>
        </p:txBody>
      </p:sp>
      <p:sp>
        <p:nvSpPr>
          <p:cNvPr id="5" name="Shape 3"/>
          <p:cNvSpPr/>
          <p:nvPr/>
        </p:nvSpPr>
        <p:spPr>
          <a:xfrm>
            <a:off x="7452360" y="164592"/>
            <a:ext cx="1463040" cy="475488"/>
          </a:xfrm>
          <a:prstGeom prst="rect">
            <a:avLst/>
          </a:prstGeom>
          <a:solidFill>
            <a:srgbClr val="27AE60"/>
          </a:solidFill>
          <a:ln w="12700">
            <a:solidFill>
              <a:srgbClr val="27AE60"/>
            </a:solidFill>
            <a:prstDash val="solid"/>
          </a:ln>
        </p:spPr>
      </p:sp>
      <p:sp>
        <p:nvSpPr>
          <p:cNvPr id="6" name="Text 4"/>
          <p:cNvSpPr/>
          <p:nvPr/>
        </p:nvSpPr>
        <p:spPr>
          <a:xfrm>
            <a:off x="7452360" y="164592"/>
            <a:ext cx="146304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 CONFIRMED</a:t>
            </a:r>
            <a:endParaRPr lang="en-US" sz="800" dirty="0"/>
          </a:p>
        </p:txBody>
      </p:sp>
      <p:sp>
        <p:nvSpPr>
          <p:cNvPr id="7" name="Text 5"/>
          <p:cNvSpPr/>
          <p:nvPr/>
        </p:nvSpPr>
        <p:spPr>
          <a:xfrm>
            <a:off x="365760" y="713232"/>
            <a:ext cx="8412480" cy="256032"/>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Is eigenvector centrality concentrated in Step 3 rather than Step 1? Does influence decouple from proximity to primary data?</a:t>
            </a:r>
            <a:endParaRPr lang="en-US" sz="1050" dirty="0"/>
          </a:p>
        </p:txBody>
      </p:sp>
      <p:pic>
        <p:nvPicPr>
          <p:cNvPr id="8" name="Image 0" descr="preencoded.png"/>
          <p:cNvPicPr>
            <a:picLocks noChangeAspect="1"/>
          </p:cNvPicPr>
          <p:nvPr/>
        </p:nvPicPr>
        <p:blipFill>
          <a:blip r:embed="rId3"/>
          <a:srcRect/>
          <a:stretch/>
        </p:blipFill>
        <p:spPr>
          <a:xfrm>
            <a:off x="274319" y="987552"/>
            <a:ext cx="6414347" cy="3632368"/>
          </a:xfrm>
          <a:prstGeom prst="rect">
            <a:avLst/>
          </a:prstGeom>
        </p:spPr>
      </p:pic>
      <p:sp>
        <p:nvSpPr>
          <p:cNvPr id="9" name="Shape 6"/>
          <p:cNvSpPr/>
          <p:nvPr/>
        </p:nvSpPr>
        <p:spPr>
          <a:xfrm>
            <a:off x="6841065" y="2653867"/>
            <a:ext cx="2028612" cy="872667"/>
          </a:xfrm>
          <a:prstGeom prst="rect">
            <a:avLst/>
          </a:prstGeom>
          <a:solidFill>
            <a:srgbClr val="FDE8E8"/>
          </a:solidFill>
          <a:ln w="12700">
            <a:solidFill>
              <a:srgbClr val="C0392B"/>
            </a:solidFill>
            <a:prstDash val="solid"/>
          </a:ln>
        </p:spPr>
        <p:txBody>
          <a:bodyPr/>
          <a:lstStyle/>
          <a:p>
            <a:endParaRPr lang="en-US" dirty="0"/>
          </a:p>
        </p:txBody>
      </p:sp>
      <p:sp>
        <p:nvSpPr>
          <p:cNvPr id="10" name="Text 7"/>
          <p:cNvSpPr/>
          <p:nvPr/>
        </p:nvSpPr>
        <p:spPr>
          <a:xfrm>
            <a:off x="6841064" y="2690628"/>
            <a:ext cx="2028613" cy="835906"/>
          </a:xfrm>
          <a:prstGeom prst="rect">
            <a:avLst/>
          </a:prstGeom>
          <a:noFill/>
          <a:ln/>
        </p:spPr>
        <p:txBody>
          <a:bodyPr wrap="square"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Anomaly — Kramer (1949): </a:t>
            </a:r>
            <a:r>
              <a:rPr lang="en-US" sz="950" dirty="0">
                <a:solidFill>
                  <a:srgbClr val="374151"/>
                </a:solidFill>
                <a:latin typeface="Calibri" pitchFamily="34" charset="0"/>
                <a:ea typeface="Calibri" pitchFamily="34" charset="-122"/>
                <a:cs typeface="Calibri" pitchFamily="34" charset="-120"/>
              </a:rPr>
              <a:t>Step 1 node with eigenvector = 1.0 (max!), cited by 7 central Step 3 nodes, but betweenness = 0. A dead end, not a bridge.</a:t>
            </a:r>
            <a:endParaRPr lang="en-US" sz="950" dirty="0"/>
          </a:p>
        </p:txBody>
      </p:sp>
      <p:sp>
        <p:nvSpPr>
          <p:cNvPr id="11" name="Shape 8"/>
          <p:cNvSpPr/>
          <p:nvPr/>
        </p:nvSpPr>
        <p:spPr>
          <a:xfrm>
            <a:off x="6841064" y="3581399"/>
            <a:ext cx="2028613" cy="1038522"/>
          </a:xfrm>
          <a:prstGeom prst="rect">
            <a:avLst/>
          </a:prstGeom>
          <a:solidFill>
            <a:srgbClr val="FFF3E2"/>
          </a:solidFill>
          <a:ln w="12700">
            <a:solidFill>
              <a:srgbClr val="E6922A"/>
            </a:solidFill>
            <a:prstDash val="solid"/>
          </a:ln>
        </p:spPr>
      </p:sp>
      <p:sp>
        <p:nvSpPr>
          <p:cNvPr id="12" name="Text 9"/>
          <p:cNvSpPr/>
          <p:nvPr/>
        </p:nvSpPr>
        <p:spPr>
          <a:xfrm>
            <a:off x="6841066" y="3581399"/>
            <a:ext cx="1891454" cy="1038521"/>
          </a:xfrm>
          <a:prstGeom prst="rect">
            <a:avLst/>
          </a:prstGeom>
          <a:noFill/>
          <a:ln/>
        </p:spPr>
        <p:txBody>
          <a:bodyPr wrap="square" rtlCol="0" anchor="ctr"/>
          <a:lstStyle/>
          <a:p>
            <a:pPr marL="0" indent="0">
              <a:buNone/>
            </a:pPr>
            <a:r>
              <a:rPr lang="en-US" sz="950" b="1" dirty="0">
                <a:solidFill>
                  <a:srgbClr val="E6922A"/>
                </a:solidFill>
                <a:latin typeface="Calibri" pitchFamily="34" charset="0"/>
                <a:ea typeface="Calibri" pitchFamily="34" charset="-122"/>
                <a:cs typeface="Calibri" pitchFamily="34" charset="-120"/>
              </a:rPr>
              <a:t>Step 2 Paradox: </a:t>
            </a:r>
            <a:r>
              <a:rPr lang="en-US" sz="950" dirty="0">
                <a:solidFill>
                  <a:srgbClr val="374151"/>
                </a:solidFill>
                <a:latin typeface="Calibri" pitchFamily="34" charset="0"/>
                <a:ea typeface="Calibri" pitchFamily="34" charset="-122"/>
                <a:cs typeface="Calibri" pitchFamily="34" charset="-120"/>
              </a:rPr>
              <a:t>Mediators have the LOWEST mean eigenvector (0.035) — even below Step 1 (0.059). Bridges connect isolated zones without belonging to the epistemic core.</a:t>
            </a:r>
            <a:endParaRPr lang="en-US" sz="950" dirty="0"/>
          </a:p>
        </p:txBody>
      </p:sp>
      <p:sp>
        <p:nvSpPr>
          <p:cNvPr id="13" name="Text 10"/>
          <p:cNvSpPr/>
          <p:nvPr/>
        </p:nvSpPr>
        <p:spPr>
          <a:xfrm>
            <a:off x="274319" y="4638024"/>
            <a:ext cx="8503921" cy="313452"/>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Design: Network heatmap (Panel C) encodes topology + scalar intensity (YlOrRd). Scatter plot rejected — loses spatial/topological dimension.</a:t>
            </a:r>
            <a:endParaRPr lang="en-US" sz="750" dirty="0"/>
          </a:p>
        </p:txBody>
      </p:sp>
      <p:sp>
        <p:nvSpPr>
          <p:cNvPr id="14" name="Text 11"/>
          <p:cNvSpPr/>
          <p:nvPr/>
        </p:nvSpPr>
        <p:spPr>
          <a:xfrm>
            <a:off x="365760" y="4919472"/>
            <a:ext cx="8412480" cy="182880"/>
          </a:xfrm>
          <a:prstGeom prst="rect">
            <a:avLst/>
          </a:prstGeom>
          <a:noFill/>
          <a:ln/>
        </p:spPr>
        <p:txBody>
          <a:bodyPr wrap="square" rtlCol="0" anchor="ctr"/>
          <a:lstStyle/>
          <a:p>
            <a:pPr marL="0" indent="0">
              <a:buNone/>
            </a:pPr>
            <a:r>
              <a:rPr lang="en-US" sz="700" dirty="0">
                <a:solidFill>
                  <a:srgbClr val="D1D5DB"/>
                </a:solidFill>
                <a:latin typeface="Calibri" pitchFamily="34" charset="0"/>
                <a:ea typeface="Calibri" pitchFamily="34" charset="-122"/>
                <a:cs typeface="Calibri" pitchFamily="34" charset="-120"/>
              </a:rPr>
              <a:t>Source: epistemic_communities2.csv · N = 400</a:t>
            </a:r>
            <a:endParaRPr lang="en-US" sz="700" dirty="0"/>
          </a:p>
        </p:txBody>
      </p:sp>
      <p:sp>
        <p:nvSpPr>
          <p:cNvPr id="914" name="HowToRead_txt"/>
          <p:cNvSpPr/>
          <p:nvPr/>
        </p:nvSpPr>
        <p:spPr>
          <a:xfrm>
            <a:off x="6841066" y="1170258"/>
            <a:ext cx="2028613" cy="1428744"/>
          </a:xfrm>
          <a:prstGeom prst="rect">
            <a:avLst/>
          </a:prstGeom>
          <a:noFill/>
          <a:ln/>
        </p:spPr>
        <p:txBody>
          <a:bodyPr wrap="square" rtlCol="0" anchor="t"/>
          <a:lstStyle/>
          <a:p>
            <a:r>
              <a:rPr lang="en-US" sz="900" dirty="0"/>
              <a:t>In Panel C: Network Heatmap warm-colored (yellow/red) nodes represent high-eigenvector publications, which demonstrate that most popular sources(red nodes) are not connected to primary sources(blue triangle). The blue triangles  consistently appear in cool colors (yellow/pale) at the periphery. The one exception is Kramer1949, annotated explicitly</a:t>
            </a:r>
            <a:r>
              <a:rPr lang="en-US" sz="900" dirty="0">
                <a:solidFill>
                  <a:srgbClr val="374151"/>
                </a:solidFill>
                <a:latin typeface="Calibri" pitchFamily="34"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a:effectLst/>
      </p:bgPr>
    </p:bg>
    <p:spTree>
      <p:nvGrpSpPr>
        <p:cNvPr id="1" name=""/>
        <p:cNvGrpSpPr/>
        <p:nvPr/>
      </p:nvGrpSpPr>
      <p:grpSpPr>
        <a:xfrm>
          <a:off x="0" y="0"/>
          <a:ext cx="0" cy="0"/>
          <a:chOff x="0" y="0"/>
          <a:chExt cx="0" cy="0"/>
        </a:xfrm>
      </p:grpSpPr>
      <p:sp>
        <p:nvSpPr>
          <p:cNvPr id="24" name="Shape 8">
            <a:extLst>
              <a:ext uri="{FF2B5EF4-FFF2-40B4-BE49-F238E27FC236}">
                <a16:creationId xmlns:a16="http://schemas.microsoft.com/office/drawing/2014/main" id="{F08B0E94-FA24-4342-A816-F53F8CDC019C}"/>
              </a:ext>
            </a:extLst>
          </p:cNvPr>
          <p:cNvSpPr/>
          <p:nvPr/>
        </p:nvSpPr>
        <p:spPr>
          <a:xfrm>
            <a:off x="6917267" y="3390086"/>
            <a:ext cx="1971045" cy="608592"/>
          </a:xfrm>
          <a:prstGeom prst="rect">
            <a:avLst/>
          </a:prstGeom>
          <a:solidFill>
            <a:srgbClr val="E8F8F0"/>
          </a:solidFill>
          <a:ln w="12700">
            <a:solidFill>
              <a:srgbClr val="27AE60"/>
            </a:solidFill>
            <a:prstDash val="solid"/>
          </a:ln>
        </p:spPr>
        <p:txBody>
          <a:bodyPr/>
          <a:lstStyle/>
          <a:p>
            <a:r>
              <a:rPr lang="en-US" sz="1000" b="1" dirty="0">
                <a:solidFill>
                  <a:schemeClr val="accent6">
                    <a:lumMod val="75000"/>
                  </a:schemeClr>
                </a:solidFill>
                <a:latin typeface="Calibri" pitchFamily="34" charset="0"/>
                <a:ea typeface="Calibri" pitchFamily="34" charset="-122"/>
                <a:cs typeface="Calibri" pitchFamily="34" charset="-120"/>
              </a:rPr>
              <a:t>Key conclusion:</a:t>
            </a:r>
            <a:endParaRPr lang="en-US" sz="1000" dirty="0">
              <a:solidFill>
                <a:srgbClr val="374151"/>
              </a:solidFill>
              <a:latin typeface="Calibri" pitchFamily="34" charset="0"/>
              <a:ea typeface="Calibri" pitchFamily="34" charset="-122"/>
              <a:cs typeface="Calibri" pitchFamily="34" charset="-120"/>
            </a:endParaRPr>
          </a:p>
          <a:p>
            <a:r>
              <a:rPr lang="en-US" sz="1000" dirty="0">
                <a:solidFill>
                  <a:srgbClr val="374151"/>
                </a:solidFill>
                <a:latin typeface="Calibri" pitchFamily="34" charset="0"/>
                <a:ea typeface="Calibri" pitchFamily="34" charset="-122"/>
                <a:cs typeface="Calibri" pitchFamily="34" charset="-120"/>
              </a:rPr>
              <a:t>&lt; 0.1%</a:t>
            </a:r>
            <a:endParaRPr lang="en-US" sz="1000" dirty="0"/>
          </a:p>
          <a:p>
            <a:r>
              <a:rPr lang="en-US" sz="1000" dirty="0">
                <a:solidFill>
                  <a:srgbClr val="374151"/>
                </a:solidFill>
                <a:latin typeface="Calibri" pitchFamily="34" charset="0"/>
                <a:ea typeface="Calibri" pitchFamily="34" charset="-122"/>
                <a:cs typeface="Calibri" pitchFamily="34" charset="-120"/>
              </a:rPr>
              <a:t>all are Step 2</a:t>
            </a:r>
            <a:endParaRPr lang="en-US" sz="1000" dirty="0"/>
          </a:p>
          <a:p>
            <a:endParaRPr lang="en-US" dirty="0"/>
          </a:p>
        </p:txBody>
      </p:sp>
      <p:sp>
        <p:nvSpPr>
          <p:cNvPr id="2" name="Shape 0"/>
          <p:cNvSpPr/>
          <p:nvPr/>
        </p:nvSpPr>
        <p:spPr>
          <a:xfrm>
            <a:off x="365760" y="164592"/>
            <a:ext cx="1005840" cy="475488"/>
          </a:xfrm>
          <a:prstGeom prst="rect">
            <a:avLst/>
          </a:prstGeom>
          <a:solidFill>
            <a:srgbClr val="E6922A"/>
          </a:solidFill>
          <a:ln w="12700">
            <a:solidFill>
              <a:srgbClr val="E6922A"/>
            </a:solidFill>
            <a:prstDash val="solid"/>
          </a:ln>
        </p:spPr>
      </p:sp>
      <p:sp>
        <p:nvSpPr>
          <p:cNvPr id="3" name="Text 1"/>
          <p:cNvSpPr/>
          <p:nvPr/>
        </p:nvSpPr>
        <p:spPr>
          <a:xfrm>
            <a:off x="365760" y="164592"/>
            <a:ext cx="100584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H5</a:t>
            </a:r>
            <a:endParaRPr lang="en-US" sz="1800" dirty="0"/>
          </a:p>
        </p:txBody>
      </p:sp>
      <p:sp>
        <p:nvSpPr>
          <p:cNvPr id="4" name="Text 2"/>
          <p:cNvSpPr/>
          <p:nvPr/>
        </p:nvSpPr>
        <p:spPr>
          <a:xfrm>
            <a:off x="1508760" y="192024"/>
            <a:ext cx="5852160" cy="420624"/>
          </a:xfrm>
          <a:prstGeom prst="rect">
            <a:avLst/>
          </a:prstGeom>
          <a:noFill/>
          <a:ln/>
        </p:spPr>
        <p:txBody>
          <a:bodyPr wrap="square"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Epistemic Reliability Rarity — Trust Triangle</a:t>
            </a:r>
            <a:endParaRPr lang="en-US" sz="1800" dirty="0"/>
          </a:p>
        </p:txBody>
      </p:sp>
      <p:sp>
        <p:nvSpPr>
          <p:cNvPr id="5" name="Shape 3"/>
          <p:cNvSpPr/>
          <p:nvPr/>
        </p:nvSpPr>
        <p:spPr>
          <a:xfrm>
            <a:off x="7452360" y="164592"/>
            <a:ext cx="1463040" cy="475488"/>
          </a:xfrm>
          <a:prstGeom prst="rect">
            <a:avLst/>
          </a:prstGeom>
          <a:solidFill>
            <a:srgbClr val="27AE60"/>
          </a:solidFill>
          <a:ln w="12700">
            <a:solidFill>
              <a:srgbClr val="27AE60"/>
            </a:solidFill>
            <a:prstDash val="solid"/>
          </a:ln>
        </p:spPr>
      </p:sp>
      <p:sp>
        <p:nvSpPr>
          <p:cNvPr id="6" name="Text 4"/>
          <p:cNvSpPr/>
          <p:nvPr/>
        </p:nvSpPr>
        <p:spPr>
          <a:xfrm>
            <a:off x="7452360" y="164592"/>
            <a:ext cx="146304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 CONFIRMED</a:t>
            </a:r>
            <a:endParaRPr lang="en-US" sz="800" dirty="0"/>
          </a:p>
        </p:txBody>
      </p:sp>
      <p:sp>
        <p:nvSpPr>
          <p:cNvPr id="7" name="Text 5"/>
          <p:cNvSpPr/>
          <p:nvPr/>
        </p:nvSpPr>
        <p:spPr>
          <a:xfrm>
            <a:off x="365760" y="713232"/>
            <a:ext cx="8412480" cy="256032"/>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Are strictly reliable sources (primary link + high in-degree + mutual reinforcement) &lt; 1% of corpus, all Step 2?</a:t>
            </a:r>
            <a:endParaRPr lang="en-US" sz="1050" dirty="0"/>
          </a:p>
        </p:txBody>
      </p:sp>
      <p:pic>
        <p:nvPicPr>
          <p:cNvPr id="8" name="Image 0" descr="preencoded.png"/>
          <p:cNvPicPr>
            <a:picLocks noChangeAspect="1"/>
          </p:cNvPicPr>
          <p:nvPr/>
        </p:nvPicPr>
        <p:blipFill>
          <a:blip r:embed="rId3"/>
          <a:srcRect/>
          <a:stretch/>
        </p:blipFill>
        <p:spPr>
          <a:xfrm>
            <a:off x="274321" y="987552"/>
            <a:ext cx="6609080" cy="3200400"/>
          </a:xfrm>
          <a:prstGeom prst="rect">
            <a:avLst/>
          </a:prstGeom>
        </p:spPr>
      </p:pic>
      <p:sp>
        <p:nvSpPr>
          <p:cNvPr id="9" name="Shape 6"/>
          <p:cNvSpPr/>
          <p:nvPr/>
        </p:nvSpPr>
        <p:spPr>
          <a:xfrm>
            <a:off x="6898633" y="1006748"/>
            <a:ext cx="1947334" cy="1347491"/>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txBody>
          <a:bodyPr/>
          <a:lstStyle/>
          <a:p>
            <a:r>
              <a:rPr lang="en-US" sz="1200" b="1" dirty="0">
                <a:solidFill>
                  <a:srgbClr val="1A1F2E"/>
                </a:solidFill>
                <a:latin typeface="Georgia" pitchFamily="34" charset="0"/>
                <a:ea typeface="Georgia" pitchFamily="34" charset="-122"/>
                <a:cs typeface="Georgia" pitchFamily="34" charset="-120"/>
              </a:rPr>
              <a:t>How to Read</a:t>
            </a:r>
            <a:endParaRPr lang="en-US" sz="1200" dirty="0"/>
          </a:p>
          <a:p>
            <a:endParaRPr lang="en-US" dirty="0"/>
          </a:p>
        </p:txBody>
      </p:sp>
      <p:sp>
        <p:nvSpPr>
          <p:cNvPr id="10" name="Text 7"/>
          <p:cNvSpPr/>
          <p:nvPr/>
        </p:nvSpPr>
        <p:spPr>
          <a:xfrm>
            <a:off x="7044271" y="2121600"/>
            <a:ext cx="1801696" cy="206417"/>
          </a:xfrm>
          <a:prstGeom prst="rect">
            <a:avLst/>
          </a:prstGeom>
          <a:noFill/>
          <a:ln/>
        </p:spPr>
        <p:txBody>
          <a:bodyPr wrap="square" rtlCol="0" anchor="ctr"/>
          <a:lstStyle/>
          <a:p>
            <a:pPr marL="0" indent="0">
              <a:buNone/>
            </a:pPr>
            <a:endParaRPr lang="en-US" sz="900" dirty="0"/>
          </a:p>
        </p:txBody>
      </p:sp>
      <p:sp>
        <p:nvSpPr>
          <p:cNvPr id="11" name="Text 8"/>
          <p:cNvSpPr/>
          <p:nvPr/>
        </p:nvSpPr>
        <p:spPr>
          <a:xfrm>
            <a:off x="6544733" y="2089680"/>
            <a:ext cx="2096347" cy="1746502"/>
          </a:xfrm>
          <a:prstGeom prst="rect">
            <a:avLst/>
          </a:prstGeom>
          <a:noFill/>
          <a:ln/>
        </p:spPr>
        <p:txBody>
          <a:bodyPr wrap="square" rtlCol="0" anchor="ctr"/>
          <a:lstStyle/>
          <a:p>
            <a:endParaRPr lang="en-US" sz="900" dirty="0"/>
          </a:p>
        </p:txBody>
      </p:sp>
      <p:sp>
        <p:nvSpPr>
          <p:cNvPr id="13" name="Text 10"/>
          <p:cNvSpPr/>
          <p:nvPr/>
        </p:nvSpPr>
        <p:spPr>
          <a:xfrm>
            <a:off x="6968066" y="4339020"/>
            <a:ext cx="2651760" cy="228600"/>
          </a:xfrm>
          <a:prstGeom prst="rect">
            <a:avLst/>
          </a:prstGeom>
          <a:noFill/>
          <a:ln/>
        </p:spPr>
        <p:txBody>
          <a:bodyPr wrap="square" rtlCol="0" anchor="ctr"/>
          <a:lstStyle/>
          <a:p>
            <a:pPr marL="0" indent="0">
              <a:buNone/>
            </a:pPr>
            <a:endParaRPr lang="en-US" sz="900" dirty="0"/>
          </a:p>
        </p:txBody>
      </p:sp>
      <p:sp>
        <p:nvSpPr>
          <p:cNvPr id="14" name="Text 11"/>
          <p:cNvSpPr/>
          <p:nvPr/>
        </p:nvSpPr>
        <p:spPr>
          <a:xfrm>
            <a:off x="7044271" y="3321750"/>
            <a:ext cx="1596808" cy="408517"/>
          </a:xfrm>
          <a:prstGeom prst="rect">
            <a:avLst/>
          </a:prstGeom>
          <a:noFill/>
          <a:ln/>
        </p:spPr>
        <p:txBody>
          <a:bodyPr wrap="square" rtlCol="0" anchor="ctr"/>
          <a:lstStyle/>
          <a:p>
            <a:pPr marL="0" indent="0">
              <a:buNone/>
            </a:pPr>
            <a:endParaRPr lang="en-US" sz="900" dirty="0"/>
          </a:p>
        </p:txBody>
      </p:sp>
      <p:sp>
        <p:nvSpPr>
          <p:cNvPr id="16" name="Text 13"/>
          <p:cNvSpPr/>
          <p:nvPr/>
        </p:nvSpPr>
        <p:spPr>
          <a:xfrm>
            <a:off x="6968066" y="2951334"/>
            <a:ext cx="1810174" cy="584200"/>
          </a:xfrm>
          <a:prstGeom prst="rect">
            <a:avLst/>
          </a:prstGeom>
          <a:noFill/>
          <a:ln/>
        </p:spPr>
        <p:txBody>
          <a:bodyPr wrap="square" rtlCol="0" anchor="ctr"/>
          <a:lstStyle/>
          <a:p>
            <a:pPr marL="0" indent="0">
              <a:buNone/>
            </a:pPr>
            <a:endParaRPr lang="en-US" sz="900" dirty="0">
              <a:solidFill>
                <a:schemeClr val="accent6">
                  <a:lumMod val="75000"/>
                </a:schemeClr>
              </a:solidFill>
            </a:endParaRPr>
          </a:p>
        </p:txBody>
      </p:sp>
      <p:sp>
        <p:nvSpPr>
          <p:cNvPr id="17" name="Text 14"/>
          <p:cNvSpPr/>
          <p:nvPr/>
        </p:nvSpPr>
        <p:spPr>
          <a:xfrm>
            <a:off x="7044271" y="4100684"/>
            <a:ext cx="1733968" cy="731436"/>
          </a:xfrm>
          <a:prstGeom prst="rect">
            <a:avLst/>
          </a:prstGeom>
          <a:noFill/>
          <a:ln/>
        </p:spPr>
        <p:txBody>
          <a:bodyPr wrap="square" rtlCol="0" anchor="ctr"/>
          <a:lstStyle/>
          <a:p>
            <a:endParaRPr lang="en-US" sz="900" dirty="0"/>
          </a:p>
        </p:txBody>
      </p:sp>
      <p:sp>
        <p:nvSpPr>
          <p:cNvPr id="18" name="Text 15"/>
          <p:cNvSpPr/>
          <p:nvPr/>
        </p:nvSpPr>
        <p:spPr>
          <a:xfrm>
            <a:off x="274322" y="4206240"/>
            <a:ext cx="6515945" cy="694944"/>
          </a:xfrm>
          <a:prstGeom prst="rect">
            <a:avLst/>
          </a:prstGeom>
          <a:noFill/>
          <a:ln/>
        </p:spPr>
        <p:txBody>
          <a:bodyPr wrap="square" rtlCol="0" anchor="ctr"/>
          <a:lstStyle/>
          <a:p>
            <a:pPr marL="0" indent="0">
              <a:buNone/>
            </a:pPr>
            <a:r>
              <a:rPr lang="en-US" sz="750" dirty="0">
                <a:solidFill>
                  <a:srgbClr val="6B7280"/>
                </a:solidFill>
                <a:latin typeface="Calibri" pitchFamily="34" charset="0"/>
                <a:ea typeface="Calibri" pitchFamily="34" charset="-122"/>
                <a:cs typeface="Calibri" pitchFamily="34" charset="-120"/>
              </a:rPr>
              <a:t>Design: Node-link required — Trust Triangle is a topological property (closed triad). Dashed edges pre-attentively group the triangle. Bar chart (Panel B) confirms all are Step 2.</a:t>
            </a:r>
            <a:endParaRPr lang="en-US" sz="750" dirty="0"/>
          </a:p>
        </p:txBody>
      </p:sp>
      <p:sp>
        <p:nvSpPr>
          <p:cNvPr id="19" name="Text 16"/>
          <p:cNvSpPr/>
          <p:nvPr/>
        </p:nvSpPr>
        <p:spPr>
          <a:xfrm>
            <a:off x="365760" y="4919472"/>
            <a:ext cx="8412480" cy="182880"/>
          </a:xfrm>
          <a:prstGeom prst="rect">
            <a:avLst/>
          </a:prstGeom>
          <a:noFill/>
          <a:ln/>
        </p:spPr>
        <p:txBody>
          <a:bodyPr wrap="square" rtlCol="0" anchor="ctr"/>
          <a:lstStyle/>
          <a:p>
            <a:pPr marL="0" indent="0">
              <a:buNone/>
            </a:pPr>
            <a:r>
              <a:rPr lang="en-US" sz="700" dirty="0">
                <a:solidFill>
                  <a:srgbClr val="D1D5DB"/>
                </a:solidFill>
                <a:latin typeface="Calibri" pitchFamily="34" charset="0"/>
                <a:ea typeface="Calibri" pitchFamily="34" charset="-122"/>
                <a:cs typeface="Calibri" pitchFamily="34" charset="-120"/>
              </a:rPr>
              <a:t>Source: sources_withAll_steps_v2_LABELED.csv (N=2,103) · epistemic_communities2.csv (N=400)</a:t>
            </a:r>
            <a:endParaRPr lang="en-US" sz="700" dirty="0"/>
          </a:p>
        </p:txBody>
      </p:sp>
      <p:sp>
        <p:nvSpPr>
          <p:cNvPr id="20" name="Shape 8">
            <a:extLst>
              <a:ext uri="{FF2B5EF4-FFF2-40B4-BE49-F238E27FC236}">
                <a16:creationId xmlns:a16="http://schemas.microsoft.com/office/drawing/2014/main" id="{A4B748D2-27E3-9C4E-8BC3-1AA595D6FCD4}"/>
              </a:ext>
            </a:extLst>
          </p:cNvPr>
          <p:cNvSpPr/>
          <p:nvPr/>
        </p:nvSpPr>
        <p:spPr>
          <a:xfrm>
            <a:off x="6922345" y="4035684"/>
            <a:ext cx="1947333" cy="524031"/>
          </a:xfrm>
          <a:prstGeom prst="rect">
            <a:avLst/>
          </a:prstGeom>
          <a:solidFill>
            <a:srgbClr val="FFF3E2"/>
          </a:solidFill>
          <a:ln w="12700">
            <a:solidFill>
              <a:srgbClr val="E6922A"/>
            </a:solidFill>
            <a:prstDash val="solid"/>
          </a:ln>
        </p:spPr>
        <p:txBody>
          <a:bodyPr/>
          <a:lstStyle/>
          <a:p>
            <a:r>
              <a:rPr lang="en-US" sz="1000" b="1" dirty="0">
                <a:solidFill>
                  <a:srgbClr val="E6922A"/>
                </a:solidFill>
                <a:latin typeface="Calibri" pitchFamily="34" charset="0"/>
                <a:ea typeface="Calibri" pitchFamily="34" charset="-122"/>
                <a:cs typeface="Calibri" pitchFamily="34" charset="-120"/>
              </a:rPr>
              <a:t>Share of corpus:</a:t>
            </a:r>
            <a:endParaRPr lang="en-US" sz="1000" dirty="0">
              <a:solidFill>
                <a:srgbClr val="374151"/>
              </a:solidFill>
              <a:latin typeface="Calibri" pitchFamily="34" charset="0"/>
              <a:ea typeface="Calibri" pitchFamily="34" charset="-122"/>
              <a:cs typeface="Calibri" pitchFamily="34" charset="-120"/>
            </a:endParaRPr>
          </a:p>
          <a:p>
            <a:r>
              <a:rPr lang="en-US" sz="1000" dirty="0">
                <a:solidFill>
                  <a:srgbClr val="374151"/>
                </a:solidFill>
                <a:latin typeface="Calibri" pitchFamily="34" charset="0"/>
                <a:ea typeface="Calibri" pitchFamily="34" charset="-122"/>
                <a:cs typeface="Calibri" pitchFamily="34" charset="-120"/>
              </a:rPr>
              <a:t>Reliability != Popularity</a:t>
            </a:r>
            <a:endParaRPr lang="en-US" sz="1000" dirty="0"/>
          </a:p>
          <a:p>
            <a:r>
              <a:rPr lang="en-US" sz="1000" dirty="0">
                <a:solidFill>
                  <a:srgbClr val="374151"/>
                </a:solidFill>
                <a:latin typeface="Calibri" pitchFamily="34" charset="0"/>
                <a:ea typeface="Calibri" pitchFamily="34" charset="-122"/>
                <a:cs typeface="Calibri" pitchFamily="34" charset="-120"/>
              </a:rPr>
              <a:t>Adams1969 (in-deg=21) FAILED</a:t>
            </a:r>
            <a:endParaRPr lang="en-US" sz="1000" dirty="0"/>
          </a:p>
        </p:txBody>
      </p:sp>
      <p:sp>
        <p:nvSpPr>
          <p:cNvPr id="23" name="Shape 6">
            <a:extLst>
              <a:ext uri="{FF2B5EF4-FFF2-40B4-BE49-F238E27FC236}">
                <a16:creationId xmlns:a16="http://schemas.microsoft.com/office/drawing/2014/main" id="{6F704D1A-86E1-E744-9137-6F897D7FC201}"/>
              </a:ext>
            </a:extLst>
          </p:cNvPr>
          <p:cNvSpPr/>
          <p:nvPr/>
        </p:nvSpPr>
        <p:spPr>
          <a:xfrm>
            <a:off x="6898633" y="2457669"/>
            <a:ext cx="1947334" cy="787136"/>
          </a:xfrm>
          <a:prstGeom prst="rect">
            <a:avLst/>
          </a:prstGeom>
          <a:solidFill>
            <a:srgbClr val="FDE8E8"/>
          </a:solidFill>
          <a:ln w="12700">
            <a:solidFill>
              <a:srgbClr val="C0392B"/>
            </a:solidFill>
            <a:prstDash val="solid"/>
          </a:ln>
        </p:spPr>
        <p:txBody>
          <a:bodyPr/>
          <a:lstStyle/>
          <a:p>
            <a:r>
              <a:rPr lang="en-US" sz="1000" b="1" dirty="0">
                <a:solidFill>
                  <a:srgbClr val="C0392B"/>
                </a:solidFill>
                <a:latin typeface="Calibri" pitchFamily="34" charset="0"/>
                <a:ea typeface="Calibri" pitchFamily="34" charset="-122"/>
                <a:cs typeface="Calibri" pitchFamily="34" charset="-120"/>
              </a:rPr>
              <a:t>Strictly reliable:</a:t>
            </a:r>
          </a:p>
          <a:p>
            <a:r>
              <a:rPr lang="en-US" sz="800" dirty="0"/>
              <a:t>Link to primary data, High in-degree. There is another node B with a high in-degree that cites the same Step 1 source as A, forming a closed trust triangle.</a:t>
            </a:r>
          </a:p>
          <a:p>
            <a:br>
              <a:rPr lang="en-US" sz="800" dirty="0"/>
            </a:br>
            <a:endParaRPr lang="en-US" sz="800" dirty="0">
              <a:solidFill>
                <a:srgbClr val="374151"/>
              </a:solidFill>
              <a:latin typeface="Calibri" pitchFamily="34" charset="0"/>
              <a:ea typeface="Calibri" pitchFamily="34" charset="-122"/>
              <a:cs typeface="Calibri" pitchFamily="34" charset="-120"/>
            </a:endParaRPr>
          </a:p>
        </p:txBody>
      </p:sp>
      <p:sp>
        <p:nvSpPr>
          <p:cNvPr id="901" name="HowToRead_H5"/>
          <p:cNvSpPr/>
          <p:nvPr/>
        </p:nvSpPr>
        <p:spPr>
          <a:xfrm>
            <a:off x="6898633" y="1199302"/>
            <a:ext cx="1947334" cy="710210"/>
          </a:xfrm>
          <a:prstGeom prst="rect">
            <a:avLst/>
          </a:prstGeom>
          <a:noFill/>
          <a:ln/>
        </p:spPr>
        <p:txBody>
          <a:bodyPr wrap="square" rtlCol="0" anchor="t"/>
          <a:lstStyle/>
          <a:p>
            <a:pPr marL="0" indent="0" algn="l">
              <a:buNone/>
            </a:pPr>
            <a:r>
              <a:rPr lang="en-US" sz="750" dirty="0">
                <a:solidFill>
                  <a:srgbClr val="374151"/>
                </a:solidFill>
                <a:latin typeface="Calibri" pitchFamily="34" charset="0"/>
              </a:rPr>
              <a:t>-Two red nodes (Robson2001 and George0000) = strictly reliable sources. Three dashed red edges form a visible triangle via a shared Step 1 node.</a:t>
            </a:r>
          </a:p>
          <a:p>
            <a:pPr marL="0" indent="0" algn="l">
              <a:buNone/>
            </a:pPr>
            <a:r>
              <a:rPr lang="en-US" sz="750" dirty="0">
                <a:solidFill>
                  <a:srgbClr val="374151"/>
                </a:solidFill>
                <a:latin typeface="Calibri" pitchFamily="34" charset="0"/>
              </a:rPr>
              <a:t>-Yellow nodes = top-4 soft candidates — no closed triangle. </a:t>
            </a:r>
          </a:p>
          <a:p>
            <a:pPr marL="0" indent="0" algn="l">
              <a:buNone/>
            </a:pPr>
            <a:r>
              <a:rPr lang="en-US" sz="750" dirty="0">
                <a:solidFill>
                  <a:srgbClr val="374151"/>
                </a:solidFill>
                <a:latin typeface="Calibri" pitchFamily="34" charset="0"/>
              </a:rPr>
              <a:t>Vast majority of nodes are grey or blue, confirming reliability is structurally rare.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Unified Design System — Visual Grammar</a:t>
            </a:r>
            <a:endParaRPr lang="en-US" sz="2200" dirty="0"/>
          </a:p>
        </p:txBody>
      </p:sp>
      <p:sp>
        <p:nvSpPr>
          <p:cNvPr id="3" name="Text 1"/>
          <p:cNvSpPr/>
          <p:nvPr/>
        </p:nvSpPr>
        <p:spPr>
          <a:xfrm>
            <a:off x="365760" y="749808"/>
            <a:ext cx="8412480" cy="256032"/>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Consistent color encoding + layout across all 5 figures enables cross-figure visual comparison</a:t>
            </a:r>
            <a:endParaRPr lang="en-US" sz="1100" dirty="0"/>
          </a:p>
        </p:txBody>
      </p:sp>
      <p:sp>
        <p:nvSpPr>
          <p:cNvPr id="4" name="Shape 2"/>
          <p:cNvSpPr/>
          <p:nvPr/>
        </p:nvSpPr>
        <p:spPr>
          <a:xfrm>
            <a:off x="365760" y="1078992"/>
            <a:ext cx="4114800" cy="2697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5" name="Text 3"/>
          <p:cNvSpPr/>
          <p:nvPr/>
        </p:nvSpPr>
        <p:spPr>
          <a:xfrm>
            <a:off x="502920" y="1170432"/>
            <a:ext cx="3840480" cy="292608"/>
          </a:xfrm>
          <a:prstGeom prst="rect">
            <a:avLst/>
          </a:prstGeom>
          <a:noFill/>
          <a:ln/>
        </p:spPr>
        <p:txBody>
          <a:bodyPr wrap="square" rtlCol="0" anchor="ctr"/>
          <a:lstStyle/>
          <a:p>
            <a:pPr marL="0" indent="0">
              <a:buNone/>
            </a:pPr>
            <a:r>
              <a:rPr lang="en-US" sz="1100" b="1" dirty="0">
                <a:solidFill>
                  <a:srgbClr val="1A1F2E"/>
                </a:solidFill>
                <a:latin typeface="Georgia" pitchFamily="34" charset="0"/>
                <a:ea typeface="Georgia" pitchFamily="34" charset="-122"/>
                <a:cs typeface="Georgia" pitchFamily="34" charset="-120"/>
              </a:rPr>
              <a:t>Color Encoding (Step-Distance)</a:t>
            </a:r>
            <a:endParaRPr lang="en-US" sz="1100" dirty="0"/>
          </a:p>
        </p:txBody>
      </p:sp>
      <p:sp>
        <p:nvSpPr>
          <p:cNvPr id="6" name="Shape 4"/>
          <p:cNvSpPr/>
          <p:nvPr/>
        </p:nvSpPr>
        <p:spPr>
          <a:xfrm>
            <a:off x="548640" y="1600200"/>
            <a:ext cx="292608" cy="256032"/>
          </a:xfrm>
          <a:prstGeom prst="rect">
            <a:avLst/>
          </a:prstGeom>
          <a:solidFill>
            <a:srgbClr val="EDADA0"/>
          </a:solidFill>
          <a:ln w="12700">
            <a:solidFill>
              <a:srgbClr val="EDADA0"/>
            </a:solidFill>
            <a:prstDash val="solid"/>
          </a:ln>
        </p:spPr>
      </p:sp>
      <p:sp>
        <p:nvSpPr>
          <p:cNvPr id="7" name="Text 5"/>
          <p:cNvSpPr/>
          <p:nvPr/>
        </p:nvSpPr>
        <p:spPr>
          <a:xfrm>
            <a:off x="932688" y="1600200"/>
            <a:ext cx="3474720" cy="182880"/>
          </a:xfrm>
          <a:prstGeom prst="rect">
            <a:avLst/>
          </a:prstGeom>
          <a:noFill/>
          <a:ln/>
        </p:spPr>
        <p:txBody>
          <a:bodyPr wrap="square" rtlCol="0" anchor="ctr"/>
          <a:lstStyle/>
          <a:p>
            <a:pPr marL="0" indent="0">
              <a:buNone/>
            </a:pPr>
            <a:r>
              <a:rPr lang="en-US" sz="950" b="1" dirty="0">
                <a:solidFill>
                  <a:srgbClr val="1A1F2E"/>
                </a:solidFill>
                <a:latin typeface="Calibri" pitchFamily="34" charset="0"/>
                <a:ea typeface="Calibri" pitchFamily="34" charset="-122"/>
                <a:cs typeface="Calibri" pitchFamily="34" charset="-120"/>
              </a:rPr>
              <a:t>Step 1 — Direct Reliance (Primary)</a:t>
            </a:r>
            <a:endParaRPr lang="en-US" sz="950" dirty="0"/>
          </a:p>
        </p:txBody>
      </p:sp>
      <p:sp>
        <p:nvSpPr>
          <p:cNvPr id="8" name="Text 6"/>
          <p:cNvSpPr/>
          <p:nvPr/>
        </p:nvSpPr>
        <p:spPr>
          <a:xfrm>
            <a:off x="932688" y="1764792"/>
            <a:ext cx="3474720" cy="164592"/>
          </a:xfrm>
          <a:prstGeom prst="rect">
            <a:avLst/>
          </a:prstGeom>
          <a:noFill/>
          <a:ln/>
        </p:spPr>
        <p:txBody>
          <a:bodyPr wrap="square" rtlCol="0" anchor="ctr"/>
          <a:lstStyle/>
          <a:p>
            <a:r>
              <a:rPr lang="en-US" sz="800" dirty="0">
                <a:solidFill>
                  <a:schemeClr val="tx1">
                    <a:lumMod val="50000"/>
                    <a:lumOff val="50000"/>
                  </a:schemeClr>
                </a:solidFill>
              </a:rPr>
              <a:t>Pale Terracotta </a:t>
            </a:r>
            <a:r>
              <a:rPr lang="en-US" sz="800" dirty="0"/>
              <a:t>(</a:t>
            </a:r>
            <a:r>
              <a:rPr lang="en-US" sz="800" dirty="0">
                <a:solidFill>
                  <a:srgbClr val="6B7280"/>
                </a:solidFill>
                <a:latin typeface="Calibri" pitchFamily="34" charset="0"/>
                <a:ea typeface="Calibri" pitchFamily="34" charset="-122"/>
                <a:cs typeface="Calibri" pitchFamily="34" charset="-120"/>
              </a:rPr>
              <a:t>Melon)  ·  H=10° S=68% L=78%  ·  #EDADA0</a:t>
            </a:r>
            <a:endParaRPr lang="en-US" sz="800" dirty="0"/>
          </a:p>
        </p:txBody>
      </p:sp>
      <p:sp>
        <p:nvSpPr>
          <p:cNvPr id="9" name="Shape 7"/>
          <p:cNvSpPr/>
          <p:nvPr/>
        </p:nvSpPr>
        <p:spPr>
          <a:xfrm>
            <a:off x="548640" y="2029968"/>
            <a:ext cx="292608" cy="256032"/>
          </a:xfrm>
          <a:prstGeom prst="rect">
            <a:avLst/>
          </a:prstGeom>
          <a:solidFill>
            <a:srgbClr val="EDD498"/>
          </a:solidFill>
          <a:ln w="12700">
            <a:solidFill>
              <a:srgbClr val="EDD498"/>
            </a:solidFill>
            <a:prstDash val="solid"/>
          </a:ln>
        </p:spPr>
      </p:sp>
      <p:sp>
        <p:nvSpPr>
          <p:cNvPr id="10" name="Text 8"/>
          <p:cNvSpPr/>
          <p:nvPr/>
        </p:nvSpPr>
        <p:spPr>
          <a:xfrm>
            <a:off x="932688" y="2029968"/>
            <a:ext cx="3474720" cy="182880"/>
          </a:xfrm>
          <a:prstGeom prst="rect">
            <a:avLst/>
          </a:prstGeom>
          <a:noFill/>
          <a:ln/>
        </p:spPr>
        <p:txBody>
          <a:bodyPr wrap="square" rtlCol="0" anchor="ctr"/>
          <a:lstStyle/>
          <a:p>
            <a:pPr marL="0" indent="0">
              <a:buNone/>
            </a:pPr>
            <a:r>
              <a:rPr lang="en-US" sz="950" b="1" dirty="0">
                <a:solidFill>
                  <a:srgbClr val="1A1F2E"/>
                </a:solidFill>
                <a:latin typeface="Calibri" pitchFamily="34" charset="0"/>
                <a:ea typeface="Calibri" pitchFamily="34" charset="-122"/>
                <a:cs typeface="Calibri" pitchFamily="34" charset="-120"/>
              </a:rPr>
              <a:t>Step 2 — Mediators (Bottleneck)</a:t>
            </a:r>
            <a:endParaRPr lang="en-US" sz="950" dirty="0"/>
          </a:p>
        </p:txBody>
      </p:sp>
      <p:sp>
        <p:nvSpPr>
          <p:cNvPr id="11" name="Text 9"/>
          <p:cNvSpPr/>
          <p:nvPr/>
        </p:nvSpPr>
        <p:spPr>
          <a:xfrm>
            <a:off x="932688" y="2194560"/>
            <a:ext cx="3474720" cy="164592"/>
          </a:xfrm>
          <a:prstGeom prst="rect">
            <a:avLst/>
          </a:prstGeom>
          <a:noFill/>
          <a:ln/>
        </p:spPr>
        <p:txBody>
          <a:bodyPr wrap="square" rtlCol="0" anchor="ctr"/>
          <a:lstStyle/>
          <a:p>
            <a:pPr marL="0" indent="0">
              <a:buNone/>
            </a:pPr>
            <a:r>
              <a:rPr lang="en-US" sz="800" dirty="0">
                <a:solidFill>
                  <a:srgbClr val="6B7280"/>
                </a:solidFill>
                <a:latin typeface="Calibri" pitchFamily="34" charset="0"/>
                <a:ea typeface="Calibri" pitchFamily="34" charset="-122"/>
                <a:cs typeface="Calibri" pitchFamily="34" charset="-120"/>
              </a:rPr>
              <a:t>Pale Amber (Jasmine)  ·  H=42° S=70% L=76%  ·  #EDD498</a:t>
            </a:r>
            <a:endParaRPr lang="en-US" sz="800" dirty="0"/>
          </a:p>
        </p:txBody>
      </p:sp>
      <p:sp>
        <p:nvSpPr>
          <p:cNvPr id="12" name="Shape 10"/>
          <p:cNvSpPr/>
          <p:nvPr/>
        </p:nvSpPr>
        <p:spPr>
          <a:xfrm>
            <a:off x="548640" y="2459736"/>
            <a:ext cx="292608" cy="256032"/>
          </a:xfrm>
          <a:prstGeom prst="rect">
            <a:avLst/>
          </a:prstGeom>
          <a:solidFill>
            <a:srgbClr val="A4BED8"/>
          </a:solidFill>
          <a:ln w="12700">
            <a:solidFill>
              <a:srgbClr val="A4BED8"/>
            </a:solidFill>
            <a:prstDash val="solid"/>
          </a:ln>
        </p:spPr>
      </p:sp>
      <p:sp>
        <p:nvSpPr>
          <p:cNvPr id="13" name="Text 11"/>
          <p:cNvSpPr/>
          <p:nvPr/>
        </p:nvSpPr>
        <p:spPr>
          <a:xfrm>
            <a:off x="932688" y="2459736"/>
            <a:ext cx="3474720" cy="182880"/>
          </a:xfrm>
          <a:prstGeom prst="rect">
            <a:avLst/>
          </a:prstGeom>
          <a:noFill/>
          <a:ln/>
        </p:spPr>
        <p:txBody>
          <a:bodyPr wrap="square" rtlCol="0" anchor="ctr"/>
          <a:lstStyle/>
          <a:p>
            <a:pPr marL="0" indent="0">
              <a:buNone/>
            </a:pPr>
            <a:r>
              <a:rPr lang="en-US" sz="950" b="1" dirty="0">
                <a:solidFill>
                  <a:srgbClr val="1A1F2E"/>
                </a:solidFill>
                <a:latin typeface="Calibri" pitchFamily="34" charset="0"/>
                <a:ea typeface="Calibri" pitchFamily="34" charset="-122"/>
                <a:cs typeface="Calibri" pitchFamily="34" charset="-120"/>
              </a:rPr>
              <a:t>Step 3 — Authorities (High in-degree)</a:t>
            </a:r>
            <a:endParaRPr lang="en-US" sz="950" dirty="0"/>
          </a:p>
        </p:txBody>
      </p:sp>
      <p:sp>
        <p:nvSpPr>
          <p:cNvPr id="14" name="Text 12"/>
          <p:cNvSpPr/>
          <p:nvPr/>
        </p:nvSpPr>
        <p:spPr>
          <a:xfrm>
            <a:off x="932688" y="2624328"/>
            <a:ext cx="3474720" cy="164592"/>
          </a:xfrm>
          <a:prstGeom prst="rect">
            <a:avLst/>
          </a:prstGeom>
          <a:noFill/>
          <a:ln/>
        </p:spPr>
        <p:txBody>
          <a:bodyPr wrap="square" rtlCol="0" anchor="ctr"/>
          <a:lstStyle/>
          <a:p>
            <a:pPr marL="0" indent="0">
              <a:buNone/>
            </a:pPr>
            <a:r>
              <a:rPr lang="en-US" sz="800" dirty="0">
                <a:solidFill>
                  <a:srgbClr val="6B7280"/>
                </a:solidFill>
                <a:latin typeface="Calibri" pitchFamily="34" charset="0"/>
                <a:ea typeface="Calibri" pitchFamily="34" charset="-122"/>
                <a:cs typeface="Calibri" pitchFamily="34" charset="-120"/>
              </a:rPr>
              <a:t>Pale Blue (Beau Blue)  ·  H=210° S=40% L=75%  ·  #A4BED8</a:t>
            </a:r>
            <a:endParaRPr lang="en-US" sz="800" dirty="0"/>
          </a:p>
        </p:txBody>
      </p:sp>
      <p:sp>
        <p:nvSpPr>
          <p:cNvPr id="15" name="Shape 13"/>
          <p:cNvSpPr/>
          <p:nvPr/>
        </p:nvSpPr>
        <p:spPr>
          <a:xfrm>
            <a:off x="548640" y="2889504"/>
            <a:ext cx="292608" cy="256032"/>
          </a:xfrm>
          <a:prstGeom prst="rect">
            <a:avLst/>
          </a:prstGeom>
          <a:solidFill>
            <a:srgbClr val="C4B8DC"/>
          </a:solidFill>
          <a:ln w="12700">
            <a:solidFill>
              <a:srgbClr val="C4B8DC"/>
            </a:solidFill>
            <a:prstDash val="solid"/>
          </a:ln>
        </p:spPr>
      </p:sp>
      <p:sp>
        <p:nvSpPr>
          <p:cNvPr id="16" name="Text 14"/>
          <p:cNvSpPr/>
          <p:nvPr/>
        </p:nvSpPr>
        <p:spPr>
          <a:xfrm>
            <a:off x="932688" y="2889504"/>
            <a:ext cx="3474720" cy="182880"/>
          </a:xfrm>
          <a:prstGeom prst="rect">
            <a:avLst/>
          </a:prstGeom>
          <a:noFill/>
          <a:ln/>
        </p:spPr>
        <p:txBody>
          <a:bodyPr wrap="square" rtlCol="0" anchor="ctr"/>
          <a:lstStyle/>
          <a:p>
            <a:pPr marL="0" indent="0">
              <a:buNone/>
            </a:pPr>
            <a:r>
              <a:rPr lang="en-US" sz="950" b="1" dirty="0">
                <a:solidFill>
                  <a:srgbClr val="1A1F2E"/>
                </a:solidFill>
                <a:latin typeface="Calibri" pitchFamily="34" charset="0"/>
                <a:ea typeface="Calibri" pitchFamily="34" charset="-122"/>
                <a:cs typeface="Calibri" pitchFamily="34" charset="-120"/>
              </a:rPr>
              <a:t>Step 4 — Mediated</a:t>
            </a:r>
            <a:endParaRPr lang="en-US" sz="950" dirty="0"/>
          </a:p>
        </p:txBody>
      </p:sp>
      <p:sp>
        <p:nvSpPr>
          <p:cNvPr id="17" name="Text 15"/>
          <p:cNvSpPr/>
          <p:nvPr/>
        </p:nvSpPr>
        <p:spPr>
          <a:xfrm>
            <a:off x="932688" y="3054096"/>
            <a:ext cx="3474720" cy="164592"/>
          </a:xfrm>
          <a:prstGeom prst="rect">
            <a:avLst/>
          </a:prstGeom>
          <a:noFill/>
          <a:ln/>
        </p:spPr>
        <p:txBody>
          <a:bodyPr wrap="square" rtlCol="0" anchor="ctr"/>
          <a:lstStyle/>
          <a:p>
            <a:pPr marL="0" indent="0">
              <a:buNone/>
            </a:pPr>
            <a:r>
              <a:rPr lang="en-US" sz="800" dirty="0">
                <a:solidFill>
                  <a:srgbClr val="6B7280"/>
                </a:solidFill>
                <a:latin typeface="Calibri" pitchFamily="34" charset="0"/>
                <a:ea typeface="Calibri" pitchFamily="34" charset="-122"/>
                <a:cs typeface="Calibri" pitchFamily="34" charset="-120"/>
              </a:rPr>
              <a:t>Pale Lavender  ·  H=260° S=34% L=79%  ·  #C4B8DC</a:t>
            </a:r>
            <a:endParaRPr lang="en-US" sz="800" dirty="0"/>
          </a:p>
        </p:txBody>
      </p:sp>
      <p:sp>
        <p:nvSpPr>
          <p:cNvPr id="18" name="Shape 16"/>
          <p:cNvSpPr/>
          <p:nvPr/>
        </p:nvSpPr>
        <p:spPr>
          <a:xfrm>
            <a:off x="548640" y="3319272"/>
            <a:ext cx="292608" cy="256032"/>
          </a:xfrm>
          <a:prstGeom prst="rect">
            <a:avLst/>
          </a:prstGeom>
          <a:solidFill>
            <a:srgbClr val="D2CEC8"/>
          </a:solidFill>
          <a:ln w="12700">
            <a:solidFill>
              <a:srgbClr val="D2CEC8"/>
            </a:solidFill>
            <a:prstDash val="solid"/>
          </a:ln>
        </p:spPr>
      </p:sp>
      <p:sp>
        <p:nvSpPr>
          <p:cNvPr id="19" name="Text 17"/>
          <p:cNvSpPr/>
          <p:nvPr/>
        </p:nvSpPr>
        <p:spPr>
          <a:xfrm>
            <a:off x="932688" y="3319272"/>
            <a:ext cx="3474720" cy="182880"/>
          </a:xfrm>
          <a:prstGeom prst="rect">
            <a:avLst/>
          </a:prstGeom>
          <a:noFill/>
          <a:ln/>
        </p:spPr>
        <p:txBody>
          <a:bodyPr wrap="square" rtlCol="0" anchor="ctr"/>
          <a:lstStyle/>
          <a:p>
            <a:pPr marL="0" indent="0">
              <a:buNone/>
            </a:pPr>
            <a:r>
              <a:rPr lang="en-US" sz="950" b="1" dirty="0">
                <a:solidFill>
                  <a:srgbClr val="1A1F2E"/>
                </a:solidFill>
                <a:latin typeface="Calibri" pitchFamily="34" charset="0"/>
                <a:ea typeface="Calibri" pitchFamily="34" charset="-122"/>
                <a:cs typeface="Calibri" pitchFamily="34" charset="-120"/>
              </a:rPr>
              <a:t>Step 5 — Peripheral (Noise)</a:t>
            </a:r>
            <a:endParaRPr lang="en-US" sz="950" dirty="0"/>
          </a:p>
        </p:txBody>
      </p:sp>
      <p:sp>
        <p:nvSpPr>
          <p:cNvPr id="20" name="Text 18"/>
          <p:cNvSpPr/>
          <p:nvPr/>
        </p:nvSpPr>
        <p:spPr>
          <a:xfrm>
            <a:off x="932688" y="3483864"/>
            <a:ext cx="3474720" cy="164592"/>
          </a:xfrm>
          <a:prstGeom prst="rect">
            <a:avLst/>
          </a:prstGeom>
          <a:noFill/>
          <a:ln/>
        </p:spPr>
        <p:txBody>
          <a:bodyPr wrap="square" rtlCol="0" anchor="ctr"/>
          <a:lstStyle/>
          <a:p>
            <a:pPr marL="0" indent="0">
              <a:buNone/>
            </a:pPr>
            <a:r>
              <a:rPr lang="en-US" sz="800" dirty="0">
                <a:solidFill>
                  <a:srgbClr val="6B7280"/>
                </a:solidFill>
                <a:latin typeface="Calibri" pitchFamily="34" charset="0"/>
                <a:ea typeface="Calibri" pitchFamily="34" charset="-122"/>
                <a:cs typeface="Calibri" pitchFamily="34" charset="-120"/>
              </a:rPr>
              <a:t>Pale Silver  ·  H=36° S=10% L=80%  ·  #D2CEC8</a:t>
            </a:r>
            <a:endParaRPr lang="en-US" sz="800" dirty="0"/>
          </a:p>
        </p:txBody>
      </p:sp>
      <p:sp>
        <p:nvSpPr>
          <p:cNvPr id="21" name="Shape 19"/>
          <p:cNvSpPr/>
          <p:nvPr/>
        </p:nvSpPr>
        <p:spPr>
          <a:xfrm>
            <a:off x="4663440" y="1078992"/>
            <a:ext cx="4206240" cy="2697480"/>
          </a:xfrm>
          <a:prstGeom prst="rect">
            <a:avLst/>
          </a:prstGeom>
          <a:solidFill>
            <a:srgbClr val="FFFFFF"/>
          </a:solidFill>
          <a:ln w="12700">
            <a:solidFill>
              <a:srgbClr val="D1D5DB"/>
            </a:solidFill>
            <a:prstDash val="solid"/>
          </a:ln>
          <a:effectLst>
            <a:outerShdw blurRad="101600" dist="38100" dir="8100000" algn="bl" rotWithShape="0">
              <a:srgbClr val="000000">
                <a:alpha val="12000"/>
              </a:srgbClr>
            </a:outerShdw>
          </a:effectLst>
        </p:spPr>
      </p:sp>
      <p:sp>
        <p:nvSpPr>
          <p:cNvPr id="22" name="Text 20"/>
          <p:cNvSpPr/>
          <p:nvPr/>
        </p:nvSpPr>
        <p:spPr>
          <a:xfrm>
            <a:off x="4800600" y="1170432"/>
            <a:ext cx="3931920" cy="292608"/>
          </a:xfrm>
          <a:prstGeom prst="rect">
            <a:avLst/>
          </a:prstGeom>
          <a:noFill/>
          <a:ln/>
        </p:spPr>
        <p:txBody>
          <a:bodyPr wrap="square" rtlCol="0" anchor="ctr"/>
          <a:lstStyle/>
          <a:p>
            <a:pPr marL="0" indent="0">
              <a:buNone/>
            </a:pPr>
            <a:r>
              <a:rPr lang="en-US" sz="1100" b="1" dirty="0">
                <a:solidFill>
                  <a:srgbClr val="1A1F2E"/>
                </a:solidFill>
                <a:latin typeface="Georgia" pitchFamily="34" charset="0"/>
                <a:ea typeface="Georgia" pitchFamily="34" charset="-122"/>
                <a:cs typeface="Georgia" pitchFamily="34" charset="-120"/>
              </a:rPr>
              <a:t>Design Principles Applied</a:t>
            </a:r>
            <a:endParaRPr lang="en-US" sz="1100" dirty="0"/>
          </a:p>
        </p:txBody>
      </p:sp>
      <p:sp>
        <p:nvSpPr>
          <p:cNvPr id="23" name="Text 21"/>
          <p:cNvSpPr/>
          <p:nvPr/>
        </p:nvSpPr>
        <p:spPr>
          <a:xfrm>
            <a:off x="4800600" y="1536192"/>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Position on scale for Compare (Cleveland &amp; McGill, 1984)</a:t>
            </a:r>
            <a:endParaRPr lang="en-US" sz="950" dirty="0"/>
          </a:p>
        </p:txBody>
      </p:sp>
      <p:sp>
        <p:nvSpPr>
          <p:cNvPr id="24" name="Text 22"/>
          <p:cNvSpPr/>
          <p:nvPr/>
        </p:nvSpPr>
        <p:spPr>
          <a:xfrm>
            <a:off x="4800600" y="1874520"/>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Horizontal bars for long source identifiers</a:t>
            </a:r>
            <a:endParaRPr lang="en-US" sz="950" dirty="0"/>
          </a:p>
        </p:txBody>
      </p:sp>
      <p:sp>
        <p:nvSpPr>
          <p:cNvPr id="25" name="Text 23"/>
          <p:cNvSpPr/>
          <p:nvPr/>
        </p:nvSpPr>
        <p:spPr>
          <a:xfrm>
            <a:off x="4800600" y="2212848"/>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Node-link graphs for topological properties</a:t>
            </a:r>
            <a:endParaRPr lang="en-US" sz="950" dirty="0"/>
          </a:p>
        </p:txBody>
      </p:sp>
      <p:sp>
        <p:nvSpPr>
          <p:cNvPr id="26" name="Text 24"/>
          <p:cNvSpPr/>
          <p:nvPr/>
        </p:nvSpPr>
        <p:spPr>
          <a:xfrm>
            <a:off x="4800600" y="2551176"/>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Sequential color scale (YlOrRd) for eigenvector heatmap</a:t>
            </a:r>
            <a:endParaRPr lang="en-US" sz="950" dirty="0"/>
          </a:p>
        </p:txBody>
      </p:sp>
      <p:sp>
        <p:nvSpPr>
          <p:cNvPr id="27" name="Text 25"/>
          <p:cNvSpPr/>
          <p:nvPr/>
        </p:nvSpPr>
        <p:spPr>
          <a:xfrm>
            <a:off x="4800600" y="2889504"/>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White background, removed top/right spines (Tufte)</a:t>
            </a:r>
            <a:endParaRPr lang="en-US" sz="950" dirty="0"/>
          </a:p>
        </p:txBody>
      </p:sp>
      <p:sp>
        <p:nvSpPr>
          <p:cNvPr id="28" name="Text 26"/>
          <p:cNvSpPr/>
          <p:nvPr/>
        </p:nvSpPr>
        <p:spPr>
          <a:xfrm>
            <a:off x="4800600" y="3227832"/>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Semi-transparent annotation boxes (alpha = 0.8)</a:t>
            </a:r>
            <a:endParaRPr lang="en-US" sz="950" dirty="0"/>
          </a:p>
        </p:txBody>
      </p:sp>
      <p:sp>
        <p:nvSpPr>
          <p:cNvPr id="29" name="Text 27"/>
          <p:cNvSpPr/>
          <p:nvPr/>
        </p:nvSpPr>
        <p:spPr>
          <a:xfrm>
            <a:off x="4800600" y="3566160"/>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DejaVu Sans — consistent cross-platform font</a:t>
            </a:r>
            <a:endParaRPr lang="en-US" sz="950" dirty="0"/>
          </a:p>
        </p:txBody>
      </p:sp>
      <p:sp>
        <p:nvSpPr>
          <p:cNvPr id="30" name="Text 28"/>
          <p:cNvSpPr/>
          <p:nvPr/>
        </p:nvSpPr>
        <p:spPr>
          <a:xfrm>
            <a:off x="4800600" y="3904488"/>
            <a:ext cx="3931920" cy="29260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Consistent node positions across H2–H5 figures</a:t>
            </a:r>
            <a:endParaRPr lang="en-US" sz="950" dirty="0"/>
          </a:p>
        </p:txBody>
      </p:sp>
      <p:sp>
        <p:nvSpPr>
          <p:cNvPr id="31" name="Shape 29"/>
          <p:cNvSpPr/>
          <p:nvPr/>
        </p:nvSpPr>
        <p:spPr>
          <a:xfrm>
            <a:off x="365760" y="3794760"/>
            <a:ext cx="8412480" cy="1051560"/>
          </a:xfrm>
          <a:prstGeom prst="rect">
            <a:avLst/>
          </a:prstGeom>
          <a:solidFill>
            <a:srgbClr val="F0F4F8"/>
          </a:solidFill>
          <a:ln w="12700">
            <a:solidFill>
              <a:srgbClr val="D1D5DB"/>
            </a:solidFill>
            <a:prstDash val="solid"/>
          </a:ln>
        </p:spPr>
      </p:sp>
      <p:sp>
        <p:nvSpPr>
          <p:cNvPr id="32" name="Text 30"/>
          <p:cNvSpPr/>
          <p:nvPr/>
        </p:nvSpPr>
        <p:spPr>
          <a:xfrm>
            <a:off x="502920" y="3867912"/>
            <a:ext cx="2743200" cy="256032"/>
          </a:xfrm>
          <a:prstGeom prst="rect">
            <a:avLst/>
          </a:prstGeom>
          <a:noFill/>
          <a:ln/>
        </p:spPr>
        <p:txBody>
          <a:bodyPr wrap="square" rtlCol="0" anchor="ctr"/>
          <a:lstStyle/>
          <a:p>
            <a:pPr marL="0" indent="0">
              <a:buNone/>
            </a:pPr>
            <a:r>
              <a:rPr lang="en-US" sz="1000" b="1" dirty="0">
                <a:solidFill>
                  <a:srgbClr val="1A1F2E"/>
                </a:solidFill>
                <a:latin typeface="Calibri" pitchFamily="34" charset="0"/>
                <a:ea typeface="Calibri" pitchFamily="34" charset="-122"/>
                <a:cs typeface="Calibri" pitchFamily="34" charset="-120"/>
              </a:rPr>
              <a:t>Visualization Types by Hypothesis:</a:t>
            </a:r>
            <a:endParaRPr lang="en-US" sz="1000" dirty="0"/>
          </a:p>
        </p:txBody>
      </p:sp>
      <p:sp>
        <p:nvSpPr>
          <p:cNvPr id="33" name="Shape 31"/>
          <p:cNvSpPr/>
          <p:nvPr/>
        </p:nvSpPr>
        <p:spPr>
          <a:xfrm>
            <a:off x="365760" y="3950208"/>
            <a:ext cx="1572768" cy="804672"/>
          </a:xfrm>
          <a:prstGeom prst="rect">
            <a:avLst/>
          </a:prstGeom>
          <a:solidFill>
            <a:srgbClr val="FFFFFF"/>
          </a:solidFill>
          <a:ln w="12700">
            <a:solidFill>
              <a:srgbClr val="D1D5DB"/>
            </a:solidFill>
            <a:prstDash val="solid"/>
          </a:ln>
        </p:spPr>
      </p:sp>
      <p:sp>
        <p:nvSpPr>
          <p:cNvPr id="34" name="Text 32"/>
          <p:cNvSpPr/>
          <p:nvPr/>
        </p:nvSpPr>
        <p:spPr>
          <a:xfrm>
            <a:off x="411480" y="3977640"/>
            <a:ext cx="1481328" cy="347472"/>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Bar Chart</a:t>
            </a:r>
            <a:endParaRPr lang="en-US" sz="950" dirty="0"/>
          </a:p>
        </p:txBody>
      </p:sp>
      <p:sp>
        <p:nvSpPr>
          <p:cNvPr id="35" name="Text 33"/>
          <p:cNvSpPr/>
          <p:nvPr/>
        </p:nvSpPr>
        <p:spPr>
          <a:xfrm>
            <a:off x="411480" y="4315968"/>
            <a:ext cx="1481328" cy="39319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H1, H2, H3, H4</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Compare task</a:t>
            </a:r>
            <a:endParaRPr lang="en-US" sz="800" dirty="0"/>
          </a:p>
        </p:txBody>
      </p:sp>
      <p:sp>
        <p:nvSpPr>
          <p:cNvPr id="36" name="Shape 34"/>
          <p:cNvSpPr/>
          <p:nvPr/>
        </p:nvSpPr>
        <p:spPr>
          <a:xfrm>
            <a:off x="2057400" y="3950208"/>
            <a:ext cx="1572768" cy="804672"/>
          </a:xfrm>
          <a:prstGeom prst="rect">
            <a:avLst/>
          </a:prstGeom>
          <a:solidFill>
            <a:srgbClr val="FFFFFF"/>
          </a:solidFill>
          <a:ln w="12700">
            <a:solidFill>
              <a:srgbClr val="D1D5DB"/>
            </a:solidFill>
            <a:prstDash val="solid"/>
          </a:ln>
        </p:spPr>
      </p:sp>
      <p:sp>
        <p:nvSpPr>
          <p:cNvPr id="37" name="Text 35"/>
          <p:cNvSpPr/>
          <p:nvPr/>
        </p:nvSpPr>
        <p:spPr>
          <a:xfrm>
            <a:off x="2103120" y="3977640"/>
            <a:ext cx="1481328" cy="347472"/>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Donut Chart</a:t>
            </a:r>
            <a:endParaRPr lang="en-US" sz="950" dirty="0"/>
          </a:p>
        </p:txBody>
      </p:sp>
      <p:sp>
        <p:nvSpPr>
          <p:cNvPr id="38" name="Text 36"/>
          <p:cNvSpPr/>
          <p:nvPr/>
        </p:nvSpPr>
        <p:spPr>
          <a:xfrm>
            <a:off x="2103120" y="4315968"/>
            <a:ext cx="1481328" cy="39319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H1</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Part-of-whole</a:t>
            </a:r>
            <a:endParaRPr lang="en-US" sz="800" dirty="0"/>
          </a:p>
        </p:txBody>
      </p:sp>
      <p:sp>
        <p:nvSpPr>
          <p:cNvPr id="39" name="Shape 37"/>
          <p:cNvSpPr/>
          <p:nvPr/>
        </p:nvSpPr>
        <p:spPr>
          <a:xfrm>
            <a:off x="3749040" y="3950208"/>
            <a:ext cx="1572768" cy="804672"/>
          </a:xfrm>
          <a:prstGeom prst="rect">
            <a:avLst/>
          </a:prstGeom>
          <a:solidFill>
            <a:srgbClr val="FFFFFF"/>
          </a:solidFill>
          <a:ln w="12700">
            <a:solidFill>
              <a:srgbClr val="D1D5DB"/>
            </a:solidFill>
            <a:prstDash val="solid"/>
          </a:ln>
        </p:spPr>
      </p:sp>
      <p:sp>
        <p:nvSpPr>
          <p:cNvPr id="40" name="Text 38"/>
          <p:cNvSpPr/>
          <p:nvPr/>
        </p:nvSpPr>
        <p:spPr>
          <a:xfrm>
            <a:off x="3794760" y="3977640"/>
            <a:ext cx="1481328" cy="347472"/>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Node-Link</a:t>
            </a:r>
            <a:endParaRPr lang="en-US" sz="950" dirty="0"/>
          </a:p>
          <a:p>
            <a:pPr marL="0" indent="0" algn="ctr">
              <a:buNone/>
            </a:pPr>
            <a:r>
              <a:rPr lang="en-US" sz="950" b="1" dirty="0">
                <a:solidFill>
                  <a:srgbClr val="1A1F2E"/>
                </a:solidFill>
                <a:latin typeface="Calibri" pitchFamily="34" charset="0"/>
                <a:ea typeface="Calibri" pitchFamily="34" charset="-122"/>
                <a:cs typeface="Calibri" pitchFamily="34" charset="-120"/>
              </a:rPr>
              <a:t>Graph</a:t>
            </a:r>
            <a:endParaRPr lang="en-US" sz="950" dirty="0"/>
          </a:p>
        </p:txBody>
      </p:sp>
      <p:sp>
        <p:nvSpPr>
          <p:cNvPr id="41" name="Text 39"/>
          <p:cNvSpPr/>
          <p:nvPr/>
        </p:nvSpPr>
        <p:spPr>
          <a:xfrm>
            <a:off x="3794760" y="4315968"/>
            <a:ext cx="1481328" cy="39319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H2, H3, H5</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Topology</a:t>
            </a:r>
            <a:endParaRPr lang="en-US" sz="800" dirty="0"/>
          </a:p>
        </p:txBody>
      </p:sp>
      <p:sp>
        <p:nvSpPr>
          <p:cNvPr id="42" name="Shape 40"/>
          <p:cNvSpPr/>
          <p:nvPr/>
        </p:nvSpPr>
        <p:spPr>
          <a:xfrm>
            <a:off x="5440680" y="3950208"/>
            <a:ext cx="1572768" cy="804672"/>
          </a:xfrm>
          <a:prstGeom prst="rect">
            <a:avLst/>
          </a:prstGeom>
          <a:solidFill>
            <a:srgbClr val="FFFFFF"/>
          </a:solidFill>
          <a:ln w="12700">
            <a:solidFill>
              <a:srgbClr val="D1D5DB"/>
            </a:solidFill>
            <a:prstDash val="solid"/>
          </a:ln>
        </p:spPr>
      </p:sp>
      <p:sp>
        <p:nvSpPr>
          <p:cNvPr id="43" name="Text 41"/>
          <p:cNvSpPr/>
          <p:nvPr/>
        </p:nvSpPr>
        <p:spPr>
          <a:xfrm>
            <a:off x="5486400" y="3977640"/>
            <a:ext cx="1481328" cy="347472"/>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Network</a:t>
            </a:r>
            <a:endParaRPr lang="en-US" sz="950" dirty="0"/>
          </a:p>
          <a:p>
            <a:pPr marL="0" indent="0" algn="ctr">
              <a:buNone/>
            </a:pPr>
            <a:r>
              <a:rPr lang="en-US" sz="950" b="1" dirty="0">
                <a:solidFill>
                  <a:srgbClr val="1A1F2E"/>
                </a:solidFill>
                <a:latin typeface="Calibri" pitchFamily="34" charset="0"/>
                <a:ea typeface="Calibri" pitchFamily="34" charset="-122"/>
                <a:cs typeface="Calibri" pitchFamily="34" charset="-120"/>
              </a:rPr>
              <a:t>Heatmap</a:t>
            </a:r>
            <a:endParaRPr lang="en-US" sz="950" dirty="0"/>
          </a:p>
        </p:txBody>
      </p:sp>
      <p:sp>
        <p:nvSpPr>
          <p:cNvPr id="44" name="Text 42"/>
          <p:cNvSpPr/>
          <p:nvPr/>
        </p:nvSpPr>
        <p:spPr>
          <a:xfrm>
            <a:off x="5486400" y="4315968"/>
            <a:ext cx="1481328" cy="39319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H4</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Topology + scalar</a:t>
            </a:r>
            <a:endParaRPr lang="en-US" sz="800" dirty="0"/>
          </a:p>
        </p:txBody>
      </p:sp>
      <p:sp>
        <p:nvSpPr>
          <p:cNvPr id="45" name="Shape 43"/>
          <p:cNvSpPr/>
          <p:nvPr/>
        </p:nvSpPr>
        <p:spPr>
          <a:xfrm>
            <a:off x="7132320" y="3950208"/>
            <a:ext cx="1572768" cy="804672"/>
          </a:xfrm>
          <a:prstGeom prst="rect">
            <a:avLst/>
          </a:prstGeom>
          <a:solidFill>
            <a:srgbClr val="FFFFFF"/>
          </a:solidFill>
          <a:ln w="12700">
            <a:solidFill>
              <a:srgbClr val="D1D5DB"/>
            </a:solidFill>
            <a:prstDash val="solid"/>
          </a:ln>
        </p:spPr>
      </p:sp>
      <p:sp>
        <p:nvSpPr>
          <p:cNvPr id="46" name="Text 44"/>
          <p:cNvSpPr/>
          <p:nvPr/>
        </p:nvSpPr>
        <p:spPr>
          <a:xfrm>
            <a:off x="7178040" y="3977640"/>
            <a:ext cx="1481328" cy="347472"/>
          </a:xfrm>
          <a:prstGeom prst="rect">
            <a:avLst/>
          </a:prstGeom>
          <a:noFill/>
          <a:ln/>
        </p:spPr>
        <p:txBody>
          <a:bodyPr wrap="square" rtlCol="0" anchor="ctr"/>
          <a:lstStyle/>
          <a:p>
            <a:pPr marL="0" indent="0" algn="ctr">
              <a:buNone/>
            </a:pPr>
            <a:r>
              <a:rPr lang="en-US" sz="950" b="1" dirty="0">
                <a:solidFill>
                  <a:srgbClr val="1A1F2E"/>
                </a:solidFill>
                <a:latin typeface="Calibri" pitchFamily="34" charset="0"/>
                <a:ea typeface="Calibri" pitchFamily="34" charset="-122"/>
                <a:cs typeface="Calibri" pitchFamily="34" charset="-120"/>
              </a:rPr>
              <a:t>Cumulative</a:t>
            </a:r>
            <a:endParaRPr lang="en-US" sz="950" dirty="0"/>
          </a:p>
          <a:p>
            <a:pPr marL="0" indent="0" algn="ctr">
              <a:buNone/>
            </a:pPr>
            <a:r>
              <a:rPr lang="en-US" sz="950" b="1" dirty="0">
                <a:solidFill>
                  <a:srgbClr val="1A1F2E"/>
                </a:solidFill>
                <a:latin typeface="Calibri" pitchFamily="34" charset="0"/>
                <a:ea typeface="Calibri" pitchFamily="34" charset="-122"/>
                <a:cs typeface="Calibri" pitchFamily="34" charset="-120"/>
              </a:rPr>
              <a:t>Line</a:t>
            </a:r>
            <a:endParaRPr lang="en-US" sz="950" dirty="0"/>
          </a:p>
        </p:txBody>
      </p:sp>
      <p:sp>
        <p:nvSpPr>
          <p:cNvPr id="47" name="Text 45"/>
          <p:cNvSpPr/>
          <p:nvPr/>
        </p:nvSpPr>
        <p:spPr>
          <a:xfrm>
            <a:off x="7178040" y="4315968"/>
            <a:ext cx="1481328" cy="39319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H3</a:t>
            </a:r>
            <a:endParaRPr lang="en-US" sz="800" dirty="0"/>
          </a:p>
          <a:p>
            <a:pPr marL="0" indent="0" algn="ctr">
              <a:buNone/>
            </a:pPr>
            <a:r>
              <a:rPr lang="en-US" sz="800" dirty="0">
                <a:solidFill>
                  <a:srgbClr val="6B7280"/>
                </a:solidFill>
                <a:latin typeface="Calibri" pitchFamily="34" charset="0"/>
                <a:ea typeface="Calibri" pitchFamily="34" charset="-122"/>
                <a:cs typeface="Calibri" pitchFamily="34" charset="-120"/>
              </a:rPr>
              <a:t>Concentration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2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AB"/>
          </a:solidFill>
          <a:ln w="12700">
            <a:solidFill>
              <a:srgbClr val="2E86AB"/>
            </a:solidFill>
            <a:prstDash val="solid"/>
          </a:ln>
        </p:spPr>
      </p:sp>
      <p:sp>
        <p:nvSpPr>
          <p:cNvPr id="3" name="Text 1"/>
          <p:cNvSpPr/>
          <p:nvPr/>
        </p:nvSpPr>
        <p:spPr>
          <a:xfrm>
            <a:off x="457200" y="731520"/>
            <a:ext cx="1828800" cy="1280160"/>
          </a:xfrm>
          <a:prstGeom prst="rect">
            <a:avLst/>
          </a:prstGeom>
          <a:noFill/>
          <a:ln/>
        </p:spPr>
        <p:txBody>
          <a:bodyPr wrap="square" rtlCol="0" anchor="ctr"/>
          <a:lstStyle/>
          <a:p>
            <a:pPr marL="0" indent="0">
              <a:buNone/>
            </a:pPr>
            <a:r>
              <a:rPr lang="en-US" sz="8000" b="1" dirty="0">
                <a:solidFill>
                  <a:srgbClr val="2E86AB"/>
                </a:solidFill>
                <a:latin typeface="Georgia" pitchFamily="34" charset="0"/>
                <a:ea typeface="Georgia" pitchFamily="34" charset="-122"/>
                <a:cs typeface="Georgia" pitchFamily="34" charset="-120"/>
              </a:rPr>
              <a:t>05</a:t>
            </a:r>
            <a:endParaRPr lang="en-US" sz="8000" dirty="0"/>
          </a:p>
        </p:txBody>
      </p:sp>
      <p:sp>
        <p:nvSpPr>
          <p:cNvPr id="4" name="Text 2"/>
          <p:cNvSpPr/>
          <p:nvPr/>
        </p:nvSpPr>
        <p:spPr>
          <a:xfrm>
            <a:off x="457200" y="2011680"/>
            <a:ext cx="822960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Conclusions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&amp; Limitations</a:t>
            </a:r>
            <a:endParaRPr lang="en-US" sz="3600" dirty="0"/>
          </a:p>
        </p:txBody>
      </p:sp>
      <p:sp>
        <p:nvSpPr>
          <p:cNvPr id="5" name="Text 3"/>
          <p:cNvSpPr/>
          <p:nvPr/>
        </p:nvSpPr>
        <p:spPr>
          <a:xfrm>
            <a:off x="457200" y="3429000"/>
            <a:ext cx="82296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Findings · Methodological contributions · Future work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Key Findings &amp; Conclusions</a:t>
            </a:r>
            <a:endParaRPr lang="en-US" sz="2200" dirty="0"/>
          </a:p>
        </p:txBody>
      </p:sp>
      <p:sp>
        <p:nvSpPr>
          <p:cNvPr id="3" name="Shape 1"/>
          <p:cNvSpPr/>
          <p:nvPr/>
        </p:nvSpPr>
        <p:spPr>
          <a:xfrm>
            <a:off x="365760" y="914400"/>
            <a:ext cx="4206240" cy="1170432"/>
          </a:xfrm>
          <a:prstGeom prst="rect">
            <a:avLst/>
          </a:prstGeom>
          <a:solidFill>
            <a:srgbClr val="FFFFFF"/>
          </a:solidFill>
          <a:ln w="19050">
            <a:solidFill>
              <a:srgbClr val="C0392B"/>
            </a:solidFill>
            <a:prstDash val="solid"/>
          </a:ln>
          <a:effectLst>
            <a:outerShdw blurRad="101600" dist="38100" dir="8100000" algn="bl" rotWithShape="0">
              <a:srgbClr val="000000">
                <a:alpha val="12000"/>
              </a:srgbClr>
            </a:outerShdw>
          </a:effectLst>
        </p:spPr>
      </p:sp>
      <p:sp>
        <p:nvSpPr>
          <p:cNvPr id="4" name="Shape 2"/>
          <p:cNvSpPr/>
          <p:nvPr/>
        </p:nvSpPr>
        <p:spPr>
          <a:xfrm>
            <a:off x="475488" y="1005840"/>
            <a:ext cx="384048" cy="384048"/>
          </a:xfrm>
          <a:prstGeom prst="ellipse">
            <a:avLst/>
          </a:prstGeom>
          <a:solidFill>
            <a:srgbClr val="C0392B"/>
          </a:solidFill>
          <a:ln w="12700">
            <a:solidFill>
              <a:srgbClr val="C0392B"/>
            </a:solidFill>
            <a:prstDash val="solid"/>
          </a:ln>
        </p:spPr>
      </p:sp>
      <p:sp>
        <p:nvSpPr>
          <p:cNvPr id="5" name="Text 3"/>
          <p:cNvSpPr/>
          <p:nvPr/>
        </p:nvSpPr>
        <p:spPr>
          <a:xfrm>
            <a:off x="475488" y="10058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987552"/>
            <a:ext cx="3520440" cy="292608"/>
          </a:xfrm>
          <a:prstGeom prst="rect">
            <a:avLst/>
          </a:prstGeom>
          <a:noFill/>
          <a:ln/>
        </p:spPr>
        <p:txBody>
          <a:bodyPr wrap="square"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H1 — Not hierarchical</a:t>
            </a:r>
            <a:endParaRPr lang="en-US" sz="1050" dirty="0"/>
          </a:p>
        </p:txBody>
      </p:sp>
      <p:sp>
        <p:nvSpPr>
          <p:cNvPr id="7" name="Text 5"/>
          <p:cNvSpPr/>
          <p:nvPr/>
        </p:nvSpPr>
        <p:spPr>
          <a:xfrm>
            <a:off x="960120" y="1280160"/>
            <a:ext cx="3520440" cy="749808"/>
          </a:xfrm>
          <a:prstGeom prst="rect">
            <a:avLst/>
          </a:prstGeom>
          <a:noFill/>
          <a:ln/>
        </p:spPr>
        <p:txBody>
          <a:bodyPr wrap="square" rtlCol="0" anchor="ctr"/>
          <a:lstStyle/>
          <a:p>
            <a:pPr marL="0" indent="0">
              <a:buNone/>
            </a:pPr>
            <a:r>
              <a:rPr lang="en-US" sz="900" dirty="0">
                <a:solidFill>
                  <a:srgbClr val="374151"/>
                </a:solidFill>
                <a:latin typeface="Calibri" pitchFamily="34" charset="0"/>
                <a:ea typeface="Calibri" pitchFamily="34" charset="-122"/>
                <a:cs typeface="Calibri" pitchFamily="34" charset="-120"/>
              </a:rPr>
              <a:t>79.6% of sources are peripheral. Citation network is sparse and fragmented — not tree-like. Visual analytics immediately contradicts the hierarchical model.</a:t>
            </a:r>
            <a:endParaRPr lang="en-US" sz="900" dirty="0"/>
          </a:p>
        </p:txBody>
      </p:sp>
      <p:sp>
        <p:nvSpPr>
          <p:cNvPr id="8" name="Shape 6"/>
          <p:cNvSpPr/>
          <p:nvPr/>
        </p:nvSpPr>
        <p:spPr>
          <a:xfrm>
            <a:off x="4754880" y="914400"/>
            <a:ext cx="4206240" cy="1170432"/>
          </a:xfrm>
          <a:prstGeom prst="rect">
            <a:avLst/>
          </a:prstGeom>
          <a:solidFill>
            <a:srgbClr val="FFFFFF"/>
          </a:solidFill>
          <a:ln w="19050">
            <a:solidFill>
              <a:srgbClr val="E6922A"/>
            </a:solidFill>
            <a:prstDash val="solid"/>
          </a:ln>
          <a:effectLst>
            <a:outerShdw blurRad="101600" dist="38100" dir="8100000" algn="bl" rotWithShape="0">
              <a:srgbClr val="000000">
                <a:alpha val="12000"/>
              </a:srgbClr>
            </a:outerShdw>
          </a:effectLst>
        </p:spPr>
      </p:sp>
      <p:sp>
        <p:nvSpPr>
          <p:cNvPr id="9" name="Shape 7"/>
          <p:cNvSpPr/>
          <p:nvPr/>
        </p:nvSpPr>
        <p:spPr>
          <a:xfrm>
            <a:off x="4864608" y="1005840"/>
            <a:ext cx="384048" cy="384048"/>
          </a:xfrm>
          <a:prstGeom prst="ellipse">
            <a:avLst/>
          </a:prstGeom>
          <a:solidFill>
            <a:srgbClr val="E6922A"/>
          </a:solidFill>
          <a:ln w="12700">
            <a:solidFill>
              <a:srgbClr val="E6922A"/>
            </a:solidFill>
            <a:prstDash val="solid"/>
          </a:ln>
        </p:spPr>
      </p:sp>
      <p:sp>
        <p:nvSpPr>
          <p:cNvPr id="10" name="Text 8"/>
          <p:cNvSpPr/>
          <p:nvPr/>
        </p:nvSpPr>
        <p:spPr>
          <a:xfrm>
            <a:off x="4864608" y="10058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5349240" y="987552"/>
            <a:ext cx="3520440" cy="292608"/>
          </a:xfrm>
          <a:prstGeom prst="rect">
            <a:avLst/>
          </a:prstGeom>
          <a:noFill/>
          <a:ln/>
        </p:spPr>
        <p:txBody>
          <a:bodyPr wrap="square"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H2 — Primary sources are isolated</a:t>
            </a:r>
            <a:endParaRPr lang="en-US" sz="1050" dirty="0"/>
          </a:p>
        </p:txBody>
      </p:sp>
      <p:sp>
        <p:nvSpPr>
          <p:cNvPr id="12" name="Text 10"/>
          <p:cNvSpPr/>
          <p:nvPr/>
        </p:nvSpPr>
        <p:spPr>
          <a:xfrm>
            <a:off x="5349240" y="1280160"/>
            <a:ext cx="3520440" cy="749808"/>
          </a:xfrm>
          <a:prstGeom prst="rect">
            <a:avLst/>
          </a:prstGeom>
          <a:noFill/>
          <a:ln/>
        </p:spPr>
        <p:txBody>
          <a:bodyPr wrap="square" rtlCol="0" anchor="ctr"/>
          <a:lstStyle/>
          <a:p>
            <a:pPr marL="0" indent="0">
              <a:buNone/>
            </a:pPr>
            <a:r>
              <a:rPr lang="en-US" sz="900" dirty="0">
                <a:solidFill>
                  <a:srgbClr val="374151"/>
                </a:solidFill>
                <a:latin typeface="Calibri" pitchFamily="34" charset="0"/>
                <a:ea typeface="Calibri" pitchFamily="34" charset="-122"/>
                <a:cs typeface="Calibri" pitchFamily="34" charset="-120"/>
              </a:rPr>
              <a:t>Step 1 betweenness = 0.00. Primary data is cited but never mediates information flow. The gap between evidence and interpretation is structural.</a:t>
            </a:r>
            <a:endParaRPr lang="en-US" sz="900" dirty="0"/>
          </a:p>
        </p:txBody>
      </p:sp>
      <p:sp>
        <p:nvSpPr>
          <p:cNvPr id="13" name="Shape 11"/>
          <p:cNvSpPr/>
          <p:nvPr/>
        </p:nvSpPr>
        <p:spPr>
          <a:xfrm>
            <a:off x="365760" y="2194560"/>
            <a:ext cx="4206240" cy="1170432"/>
          </a:xfrm>
          <a:prstGeom prst="rect">
            <a:avLst/>
          </a:prstGeom>
          <a:solidFill>
            <a:srgbClr val="FFFFFF"/>
          </a:solidFill>
          <a:ln w="19050">
            <a:solidFill>
              <a:srgbClr val="E6922A"/>
            </a:solidFill>
            <a:prstDash val="solid"/>
          </a:ln>
          <a:effectLst>
            <a:outerShdw blurRad="101600" dist="38100" dir="8100000" algn="bl" rotWithShape="0">
              <a:srgbClr val="000000">
                <a:alpha val="12000"/>
              </a:srgbClr>
            </a:outerShdw>
          </a:effectLst>
        </p:spPr>
      </p:sp>
      <p:sp>
        <p:nvSpPr>
          <p:cNvPr id="14" name="Shape 12"/>
          <p:cNvSpPr/>
          <p:nvPr/>
        </p:nvSpPr>
        <p:spPr>
          <a:xfrm>
            <a:off x="475488" y="2286000"/>
            <a:ext cx="384048" cy="384048"/>
          </a:xfrm>
          <a:prstGeom prst="ellipse">
            <a:avLst/>
          </a:prstGeom>
          <a:solidFill>
            <a:srgbClr val="E6922A"/>
          </a:solidFill>
          <a:ln w="12700">
            <a:solidFill>
              <a:srgbClr val="E6922A"/>
            </a:solidFill>
            <a:prstDash val="solid"/>
          </a:ln>
        </p:spPr>
      </p:sp>
      <p:sp>
        <p:nvSpPr>
          <p:cNvPr id="15" name="Text 13"/>
          <p:cNvSpPr/>
          <p:nvPr/>
        </p:nvSpPr>
        <p:spPr>
          <a:xfrm>
            <a:off x="475488" y="22860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960120" y="2267712"/>
            <a:ext cx="3520440" cy="292608"/>
          </a:xfrm>
          <a:prstGeom prst="rect">
            <a:avLst/>
          </a:prstGeom>
          <a:noFill/>
          <a:ln/>
        </p:spPr>
        <p:txBody>
          <a:bodyPr wrap="square"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H3 — Bottleneck confirmed</a:t>
            </a:r>
            <a:endParaRPr lang="en-US" sz="1050" dirty="0"/>
          </a:p>
        </p:txBody>
      </p:sp>
      <p:sp>
        <p:nvSpPr>
          <p:cNvPr id="17" name="Text 15"/>
          <p:cNvSpPr/>
          <p:nvPr/>
        </p:nvSpPr>
        <p:spPr>
          <a:xfrm>
            <a:off x="960120" y="2560320"/>
            <a:ext cx="3520440" cy="749808"/>
          </a:xfrm>
          <a:prstGeom prst="rect">
            <a:avLst/>
          </a:prstGeom>
          <a:noFill/>
          <a:ln/>
        </p:spPr>
        <p:txBody>
          <a:bodyPr wrap="square" rtlCol="0" anchor="ctr"/>
          <a:lstStyle/>
          <a:p>
            <a:pPr marL="0" indent="0">
              <a:buNone/>
            </a:pPr>
            <a:r>
              <a:rPr lang="en-US" sz="900" dirty="0">
                <a:solidFill>
                  <a:srgbClr val="374151"/>
                </a:solidFill>
                <a:latin typeface="Calibri" pitchFamily="34" charset="0"/>
                <a:ea typeface="Calibri" pitchFamily="34" charset="-122"/>
                <a:cs typeface="Calibri" pitchFamily="34" charset="-120"/>
              </a:rPr>
              <a:t>37 nodes (1.8%) carry all epistemic traffic Step 1 → Step 3. Robust to threshold changes. Top 5 mediators carry 77% of all betweenness.</a:t>
            </a:r>
            <a:endParaRPr lang="en-US" sz="900" dirty="0"/>
          </a:p>
        </p:txBody>
      </p:sp>
      <p:sp>
        <p:nvSpPr>
          <p:cNvPr id="18" name="Shape 16"/>
          <p:cNvSpPr/>
          <p:nvPr/>
        </p:nvSpPr>
        <p:spPr>
          <a:xfrm>
            <a:off x="4754880" y="2194560"/>
            <a:ext cx="4206240" cy="1170432"/>
          </a:xfrm>
          <a:prstGeom prst="rect">
            <a:avLst/>
          </a:prstGeom>
          <a:solidFill>
            <a:srgbClr val="FFFFFF"/>
          </a:solidFill>
          <a:ln w="19050">
            <a:solidFill>
              <a:srgbClr val="2E86AB"/>
            </a:solidFill>
            <a:prstDash val="solid"/>
          </a:ln>
          <a:effectLst>
            <a:outerShdw blurRad="101600" dist="38100" dir="8100000" algn="bl" rotWithShape="0">
              <a:srgbClr val="000000">
                <a:alpha val="12000"/>
              </a:srgbClr>
            </a:outerShdw>
          </a:effectLst>
        </p:spPr>
      </p:sp>
      <p:sp>
        <p:nvSpPr>
          <p:cNvPr id="19" name="Shape 17"/>
          <p:cNvSpPr/>
          <p:nvPr/>
        </p:nvSpPr>
        <p:spPr>
          <a:xfrm>
            <a:off x="4864608" y="2286000"/>
            <a:ext cx="384048" cy="384048"/>
          </a:xfrm>
          <a:prstGeom prst="ellipse">
            <a:avLst/>
          </a:prstGeom>
          <a:solidFill>
            <a:srgbClr val="2E86AB"/>
          </a:solidFill>
          <a:ln w="12700">
            <a:solidFill>
              <a:srgbClr val="2E86AB"/>
            </a:solidFill>
            <a:prstDash val="solid"/>
          </a:ln>
        </p:spPr>
      </p:sp>
      <p:sp>
        <p:nvSpPr>
          <p:cNvPr id="20" name="Text 18"/>
          <p:cNvSpPr/>
          <p:nvPr/>
        </p:nvSpPr>
        <p:spPr>
          <a:xfrm>
            <a:off x="4864608" y="22860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5349240" y="2267712"/>
            <a:ext cx="3520440" cy="292608"/>
          </a:xfrm>
          <a:prstGeom prst="rect">
            <a:avLst/>
          </a:prstGeom>
          <a:noFill/>
          <a:ln/>
        </p:spPr>
        <p:txBody>
          <a:bodyPr wrap="square"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H4 — Influence is not proximity</a:t>
            </a:r>
            <a:endParaRPr lang="en-US" sz="1050" dirty="0"/>
          </a:p>
        </p:txBody>
      </p:sp>
      <p:sp>
        <p:nvSpPr>
          <p:cNvPr id="22" name="Text 20"/>
          <p:cNvSpPr/>
          <p:nvPr/>
        </p:nvSpPr>
        <p:spPr>
          <a:xfrm>
            <a:off x="5349240" y="2560320"/>
            <a:ext cx="3520440" cy="749808"/>
          </a:xfrm>
          <a:prstGeom prst="rect">
            <a:avLst/>
          </a:prstGeom>
          <a:noFill/>
          <a:ln/>
        </p:spPr>
        <p:txBody>
          <a:bodyPr wrap="square" rtlCol="0" anchor="ctr"/>
          <a:lstStyle/>
          <a:p>
            <a:pPr marL="0" indent="0">
              <a:buNone/>
            </a:pPr>
            <a:r>
              <a:rPr lang="en-US" sz="900" dirty="0">
                <a:solidFill>
                  <a:srgbClr val="374151"/>
                </a:solidFill>
                <a:latin typeface="Calibri" pitchFamily="34" charset="0"/>
                <a:ea typeface="Calibri" pitchFamily="34" charset="-122"/>
                <a:cs typeface="Calibri" pitchFamily="34" charset="-120"/>
              </a:rPr>
              <a:t>Eigenvector concentrates in Step 3, not Step 1. Discursive authority is decoupled from empirical proximity. Step 2 paradox: bridges without belonging.</a:t>
            </a:r>
            <a:endParaRPr lang="en-US" sz="900" dirty="0"/>
          </a:p>
        </p:txBody>
      </p:sp>
      <p:sp>
        <p:nvSpPr>
          <p:cNvPr id="23" name="Shape 21"/>
          <p:cNvSpPr/>
          <p:nvPr/>
        </p:nvSpPr>
        <p:spPr>
          <a:xfrm>
            <a:off x="365760" y="3538728"/>
            <a:ext cx="8412480" cy="777240"/>
          </a:xfrm>
          <a:prstGeom prst="rect">
            <a:avLst/>
          </a:prstGeom>
          <a:solidFill>
            <a:srgbClr val="FFFFFF"/>
          </a:solidFill>
          <a:ln w="19050">
            <a:solidFill>
              <a:srgbClr val="C0392B"/>
            </a:solidFill>
            <a:prstDash val="solid"/>
          </a:ln>
          <a:effectLst>
            <a:outerShdw blurRad="101600" dist="38100" dir="8100000" algn="bl" rotWithShape="0">
              <a:srgbClr val="000000">
                <a:alpha val="12000"/>
              </a:srgbClr>
            </a:outerShdw>
          </a:effectLst>
        </p:spPr>
      </p:sp>
      <p:sp>
        <p:nvSpPr>
          <p:cNvPr id="24" name="Shape 22"/>
          <p:cNvSpPr/>
          <p:nvPr/>
        </p:nvSpPr>
        <p:spPr>
          <a:xfrm>
            <a:off x="475488" y="3630168"/>
            <a:ext cx="384048" cy="384048"/>
          </a:xfrm>
          <a:prstGeom prst="ellipse">
            <a:avLst/>
          </a:prstGeom>
          <a:solidFill>
            <a:srgbClr val="C0392B"/>
          </a:solidFill>
          <a:ln w="12700">
            <a:solidFill>
              <a:srgbClr val="C0392B"/>
            </a:solidFill>
            <a:prstDash val="solid"/>
          </a:ln>
        </p:spPr>
      </p:sp>
      <p:sp>
        <p:nvSpPr>
          <p:cNvPr id="25" name="Text 23"/>
          <p:cNvSpPr/>
          <p:nvPr/>
        </p:nvSpPr>
        <p:spPr>
          <a:xfrm>
            <a:off x="475488" y="36301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960120" y="3584448"/>
            <a:ext cx="7680960" cy="274320"/>
          </a:xfrm>
          <a:prstGeom prst="rect">
            <a:avLst/>
          </a:prstGeom>
          <a:noFill/>
          <a:ln/>
        </p:spPr>
        <p:txBody>
          <a:bodyPr wrap="square"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H5 — Reliability is rare and unexpected</a:t>
            </a:r>
            <a:endParaRPr lang="en-US" sz="1050" dirty="0"/>
          </a:p>
        </p:txBody>
      </p:sp>
      <p:sp>
        <p:nvSpPr>
          <p:cNvPr id="27" name="Text 25"/>
          <p:cNvSpPr/>
          <p:nvPr/>
        </p:nvSpPr>
        <p:spPr>
          <a:xfrm>
            <a:off x="960120" y="3867912"/>
            <a:ext cx="7680960" cy="402336"/>
          </a:xfrm>
          <a:prstGeom prst="rect">
            <a:avLst/>
          </a:prstGeom>
          <a:noFill/>
          <a:ln/>
        </p:spPr>
        <p:txBody>
          <a:bodyPr wrap="square" rtlCol="0" anchor="ctr"/>
          <a:lstStyle/>
          <a:p>
            <a:pPr marL="0" indent="0">
              <a:buNone/>
            </a:pPr>
            <a:r>
              <a:rPr lang="en-US" sz="900" dirty="0">
                <a:solidFill>
                  <a:srgbClr val="374151"/>
                </a:solidFill>
                <a:latin typeface="Calibri" pitchFamily="34" charset="0"/>
                <a:ea typeface="Calibri" pitchFamily="34" charset="-122"/>
                <a:cs typeface="Calibri" pitchFamily="34" charset="-120"/>
              </a:rPr>
              <a:t>Only 2 sources satisfy all Trust Triangle criteria. Both are Step 2 Mediators — NOT the most cited Step 3 Authorities. Citation popularity and epistemic reliability are structurally different properties.</a:t>
            </a:r>
            <a:endParaRPr lang="en-US" sz="900" dirty="0"/>
          </a:p>
        </p:txBody>
      </p:sp>
      <p:sp>
        <p:nvSpPr>
          <p:cNvPr id="28" name="Shape 26"/>
          <p:cNvSpPr/>
          <p:nvPr/>
        </p:nvSpPr>
        <p:spPr>
          <a:xfrm>
            <a:off x="365760" y="4407408"/>
            <a:ext cx="8412480" cy="502920"/>
          </a:xfrm>
          <a:prstGeom prst="rect">
            <a:avLst/>
          </a:prstGeom>
          <a:solidFill>
            <a:srgbClr val="FFF8E1"/>
          </a:solidFill>
          <a:ln w="19050">
            <a:solidFill>
              <a:srgbClr val="E6922A"/>
            </a:solidFill>
            <a:prstDash val="solid"/>
          </a:ln>
        </p:spPr>
      </p:sp>
      <p:sp>
        <p:nvSpPr>
          <p:cNvPr id="29" name="Text 27"/>
          <p:cNvSpPr/>
          <p:nvPr/>
        </p:nvSpPr>
        <p:spPr>
          <a:xfrm>
            <a:off x="502920" y="4434840"/>
            <a:ext cx="8229600" cy="448056"/>
          </a:xfrm>
          <a:prstGeom prst="rect">
            <a:avLst/>
          </a:prstGeom>
          <a:noFill/>
          <a:ln/>
        </p:spPr>
        <p:txBody>
          <a:bodyPr wrap="square" rtlCol="0" anchor="ctr"/>
          <a:lstStyle/>
          <a:p>
            <a:pPr marL="0" indent="0">
              <a:buNone/>
            </a:pPr>
            <a:r>
              <a:rPr lang="en-US" sz="1000" b="1" dirty="0">
                <a:solidFill>
                  <a:srgbClr val="1A1F2E"/>
                </a:solidFill>
                <a:latin typeface="Calibri" pitchFamily="34" charset="0"/>
                <a:ea typeface="Calibri" pitchFamily="34" charset="-122"/>
                <a:cs typeface="Calibri" pitchFamily="34" charset="-120"/>
              </a:rPr>
              <a:t>Core contribution: </a:t>
            </a:r>
            <a:r>
              <a:rPr lang="en-US" sz="1000" dirty="0">
                <a:solidFill>
                  <a:srgbClr val="374151"/>
                </a:solidFill>
                <a:latin typeface="Calibri" pitchFamily="34" charset="0"/>
                <a:ea typeface="Calibri" pitchFamily="34" charset="-122"/>
                <a:cs typeface="Calibri" pitchFamily="34" charset="-120"/>
              </a:rPr>
              <a:t>Visual analytics reveals hidden epistemic structures in humanities research — structures not accessible through linear reading or citation counts alone.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200" b="1" dirty="0">
                <a:solidFill>
                  <a:srgbClr val="1A1F2E"/>
                </a:solidFill>
                <a:latin typeface="Georgia" pitchFamily="34" charset="0"/>
                <a:ea typeface="Georgia" pitchFamily="34" charset="-122"/>
                <a:cs typeface="Georgia" pitchFamily="34" charset="-120"/>
              </a:rPr>
              <a:t>Limitations &amp; Future Work</a:t>
            </a:r>
            <a:endParaRPr lang="en-US" sz="2200" dirty="0"/>
          </a:p>
        </p:txBody>
      </p:sp>
      <p:sp>
        <p:nvSpPr>
          <p:cNvPr id="3" name="Shape 1"/>
          <p:cNvSpPr/>
          <p:nvPr/>
        </p:nvSpPr>
        <p:spPr>
          <a:xfrm>
            <a:off x="365760" y="804672"/>
            <a:ext cx="4937760" cy="3977640"/>
          </a:xfrm>
          <a:prstGeom prst="rect">
            <a:avLst/>
          </a:prstGeom>
          <a:solidFill>
            <a:srgbClr val="FFFFFF"/>
          </a:solidFill>
          <a:ln w="19050">
            <a:solidFill>
              <a:srgbClr val="C0392B"/>
            </a:solidFill>
            <a:prstDash val="solid"/>
          </a:ln>
          <a:effectLst>
            <a:outerShdw blurRad="101600" dist="38100" dir="8100000" algn="bl" rotWithShape="0">
              <a:srgbClr val="000000">
                <a:alpha val="12000"/>
              </a:srgbClr>
            </a:outerShdw>
          </a:effectLst>
        </p:spPr>
      </p:sp>
      <p:sp>
        <p:nvSpPr>
          <p:cNvPr id="4" name="Text 2"/>
          <p:cNvSpPr/>
          <p:nvPr/>
        </p:nvSpPr>
        <p:spPr>
          <a:xfrm>
            <a:off x="502920" y="896112"/>
            <a:ext cx="4663440" cy="347472"/>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Limitations</a:t>
            </a:r>
            <a:endParaRPr lang="en-US" sz="1300" dirty="0"/>
          </a:p>
        </p:txBody>
      </p:sp>
      <p:sp>
        <p:nvSpPr>
          <p:cNvPr id="5" name="Text 3"/>
          <p:cNvSpPr/>
          <p:nvPr/>
        </p:nvSpPr>
        <p:spPr>
          <a:xfrm>
            <a:off x="548640" y="1531622"/>
            <a:ext cx="4663440" cy="406906"/>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a:t>
            </a:r>
            <a:r>
              <a:rPr lang="en-US" sz="950" dirty="0">
                <a:solidFill>
                  <a:schemeClr val="tx1">
                    <a:lumMod val="50000"/>
                    <a:lumOff val="50000"/>
                  </a:schemeClr>
                </a:solidFill>
                <a:latin typeface="Calibri" pitchFamily="34" charset="0"/>
                <a:ea typeface="Calibri" pitchFamily="34" charset="-122"/>
                <a:cs typeface="Calibri" pitchFamily="34" charset="-120"/>
              </a:rPr>
              <a:t>Node-link diagrams do not scale to the full 2,103-node graph — subgraph (N=400) used for topology</a:t>
            </a:r>
            <a:endParaRPr lang="en-US" sz="950" dirty="0">
              <a:solidFill>
                <a:schemeClr val="tx1">
                  <a:lumMod val="50000"/>
                  <a:lumOff val="50000"/>
                </a:schemeClr>
              </a:solidFill>
            </a:endParaRPr>
          </a:p>
        </p:txBody>
      </p:sp>
      <p:sp>
        <p:nvSpPr>
          <p:cNvPr id="6" name="Text 4"/>
          <p:cNvSpPr/>
          <p:nvPr/>
        </p:nvSpPr>
        <p:spPr>
          <a:xfrm>
            <a:off x="548640" y="1691640"/>
            <a:ext cx="4663440" cy="47548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a:t>
            </a:r>
            <a:r>
              <a:rPr lang="en-US" sz="950" dirty="0">
                <a:solidFill>
                  <a:schemeClr val="tx1">
                    <a:lumMod val="50000"/>
                    <a:lumOff val="50000"/>
                  </a:schemeClr>
                </a:solidFill>
                <a:latin typeface="Calibri" pitchFamily="34" charset="0"/>
                <a:ea typeface="Calibri" pitchFamily="34" charset="-122"/>
                <a:cs typeface="Calibri" pitchFamily="34" charset="-120"/>
              </a:rPr>
              <a:t>Step-Distance Model assigns roles by network position, not content validity</a:t>
            </a:r>
            <a:endParaRPr lang="en-US" sz="950" dirty="0">
              <a:solidFill>
                <a:schemeClr val="tx1">
                  <a:lumMod val="50000"/>
                  <a:lumOff val="50000"/>
                </a:schemeClr>
              </a:solidFill>
            </a:endParaRPr>
          </a:p>
        </p:txBody>
      </p:sp>
      <p:sp>
        <p:nvSpPr>
          <p:cNvPr id="7" name="Text 5"/>
          <p:cNvSpPr/>
          <p:nvPr/>
        </p:nvSpPr>
        <p:spPr>
          <a:xfrm>
            <a:off x="548640" y="1938529"/>
            <a:ext cx="4663440" cy="868466"/>
          </a:xfrm>
          <a:prstGeom prst="rect">
            <a:avLst/>
          </a:prstGeom>
          <a:noFill/>
          <a:ln/>
        </p:spPr>
        <p:txBody>
          <a:bodyPr wrap="square" rtlCol="0" anchor="ctr"/>
          <a:lstStyle/>
          <a:p>
            <a:r>
              <a:rPr lang="en-US" sz="950" dirty="0">
                <a:solidFill>
                  <a:srgbClr val="374151"/>
                </a:solidFill>
                <a:latin typeface="Calibri" pitchFamily="34" charset="0"/>
                <a:ea typeface="Calibri" pitchFamily="34" charset="-122"/>
                <a:cs typeface="Calibri" pitchFamily="34" charset="-120"/>
              </a:rPr>
              <a:t>· </a:t>
            </a:r>
            <a:r>
              <a:rPr lang="en-US" sz="900" dirty="0">
                <a:solidFill>
                  <a:schemeClr val="tx1">
                    <a:lumMod val="50000"/>
                    <a:lumOff val="50000"/>
                  </a:schemeClr>
                </a:solidFill>
              </a:rPr>
              <a:t>Step 4 is under-represented in the dataset, with only three identified sources. This is likely due to the DOI-based sampling strategy, which </a:t>
            </a:r>
            <a:r>
              <a:rPr lang="en-US" sz="900" dirty="0" err="1">
                <a:solidFill>
                  <a:schemeClr val="tx1">
                    <a:lumMod val="50000"/>
                    <a:lumOff val="50000"/>
                  </a:schemeClr>
                </a:solidFill>
              </a:rPr>
              <a:t>favours</a:t>
            </a:r>
            <a:r>
              <a:rPr lang="en-US" sz="900" dirty="0">
                <a:solidFill>
                  <a:schemeClr val="tx1">
                    <a:lumMod val="50000"/>
                    <a:lumOff val="50000"/>
                  </a:schemeClr>
                </a:solidFill>
              </a:rPr>
              <a:t> journal articles over textbooks and encyclopedic works. As a result, the </a:t>
            </a:r>
            <a:r>
              <a:rPr lang="en-US" sz="900" dirty="0" err="1">
                <a:solidFill>
                  <a:schemeClr val="tx1">
                    <a:lumMod val="50000"/>
                    <a:lumOff val="50000"/>
                  </a:schemeClr>
                </a:solidFill>
              </a:rPr>
              <a:t>visualisations</a:t>
            </a:r>
            <a:r>
              <a:rPr lang="en-US" sz="900" dirty="0">
                <a:solidFill>
                  <a:schemeClr val="tx1">
                    <a:lumMod val="50000"/>
                    <a:lumOff val="50000"/>
                  </a:schemeClr>
                </a:solidFill>
              </a:rPr>
              <a:t> may under-represent synthesis-level scholarship. The Step 4 layer in the figures should therefore be interpreted as a partial reflection of the epistemic landscape rather than a complete one</a:t>
            </a:r>
          </a:p>
        </p:txBody>
      </p:sp>
      <p:sp>
        <p:nvSpPr>
          <p:cNvPr id="8" name="Text 6"/>
          <p:cNvSpPr/>
          <p:nvPr/>
        </p:nvSpPr>
        <p:spPr>
          <a:xfrm>
            <a:off x="548640" y="2999232"/>
            <a:ext cx="4663440" cy="475488"/>
          </a:xfrm>
          <a:prstGeom prst="rect">
            <a:avLst/>
          </a:prstGeom>
          <a:noFill/>
          <a:ln/>
        </p:spPr>
        <p:txBody>
          <a:bodyPr wrap="square" rtlCol="0" anchor="ctr"/>
          <a:lstStyle/>
          <a:p>
            <a:pPr marL="0" indent="0">
              <a:buNone/>
            </a:pPr>
            <a:endParaRPr lang="en-US" sz="950" dirty="0"/>
          </a:p>
        </p:txBody>
      </p:sp>
      <p:sp>
        <p:nvSpPr>
          <p:cNvPr id="9" name="Text 7"/>
          <p:cNvSpPr/>
          <p:nvPr/>
        </p:nvSpPr>
        <p:spPr>
          <a:xfrm>
            <a:off x="548639" y="2690038"/>
            <a:ext cx="4663441" cy="624664"/>
          </a:xfrm>
          <a:prstGeom prst="rect">
            <a:avLst/>
          </a:prstGeom>
          <a:noFill/>
          <a:ln/>
        </p:spPr>
        <p:txBody>
          <a:bodyPr wrap="square" rtlCol="0" anchor="ctr"/>
          <a:lstStyle/>
          <a:p>
            <a:r>
              <a:rPr lang="en-US" sz="950" dirty="0">
                <a:solidFill>
                  <a:schemeClr val="tx1">
                    <a:lumMod val="50000"/>
                    <a:lumOff val="50000"/>
                  </a:schemeClr>
                </a:solidFill>
                <a:latin typeface="Calibri" pitchFamily="34" charset="0"/>
                <a:ea typeface="Calibri" pitchFamily="34" charset="-122"/>
                <a:cs typeface="Calibri" pitchFamily="34" charset="-120"/>
              </a:rPr>
              <a:t>· </a:t>
            </a:r>
            <a:r>
              <a:rPr lang="en-US" sz="900" dirty="0">
                <a:solidFill>
                  <a:schemeClr val="tx1">
                    <a:lumMod val="50000"/>
                    <a:lumOff val="50000"/>
                  </a:schemeClr>
                </a:solidFill>
              </a:rPr>
              <a:t>The node-link diagram is useful for small subgraphs but does not scale to the full dataset, because visual complexity increases faster than human perceptual capacity. Therefore, alternative representations are required for global structure analysis</a:t>
            </a:r>
            <a:endParaRPr lang="en-US" sz="950" dirty="0">
              <a:solidFill>
                <a:schemeClr val="tx1">
                  <a:lumMod val="50000"/>
                  <a:lumOff val="50000"/>
                </a:schemeClr>
              </a:solidFill>
            </a:endParaRPr>
          </a:p>
        </p:txBody>
      </p:sp>
      <p:sp>
        <p:nvSpPr>
          <p:cNvPr id="10" name="Text 8"/>
          <p:cNvSpPr/>
          <p:nvPr/>
        </p:nvSpPr>
        <p:spPr>
          <a:xfrm>
            <a:off x="548640" y="3160526"/>
            <a:ext cx="4663440" cy="314194"/>
          </a:xfrm>
          <a:prstGeom prst="rect">
            <a:avLst/>
          </a:prstGeom>
          <a:noFill/>
          <a:ln/>
        </p:spPr>
        <p:txBody>
          <a:bodyPr wrap="square" rtlCol="0" anchor="ctr"/>
          <a:lstStyle/>
          <a:p>
            <a:pPr marL="0" indent="0">
              <a:buNone/>
            </a:pPr>
            <a:r>
              <a:rPr lang="en-US" sz="950" dirty="0">
                <a:solidFill>
                  <a:schemeClr val="tx1">
                    <a:lumMod val="50000"/>
                    <a:lumOff val="50000"/>
                  </a:schemeClr>
                </a:solidFill>
                <a:latin typeface="Calibri" pitchFamily="34" charset="0"/>
                <a:ea typeface="Calibri" pitchFamily="34" charset="-122"/>
                <a:cs typeface="Calibri" pitchFamily="34" charset="-120"/>
              </a:rPr>
              <a:t>· Network reflects the selected corpus only — not a comprehensive field map</a:t>
            </a:r>
            <a:endParaRPr lang="en-US" sz="950" dirty="0">
              <a:solidFill>
                <a:schemeClr val="tx1">
                  <a:lumMod val="50000"/>
                  <a:lumOff val="50000"/>
                </a:schemeClr>
              </a:solidFill>
            </a:endParaRPr>
          </a:p>
        </p:txBody>
      </p:sp>
      <p:sp>
        <p:nvSpPr>
          <p:cNvPr id="11" name="Shape 9"/>
          <p:cNvSpPr/>
          <p:nvPr/>
        </p:nvSpPr>
        <p:spPr>
          <a:xfrm>
            <a:off x="5440680" y="804672"/>
            <a:ext cx="3429000" cy="3977640"/>
          </a:xfrm>
          <a:prstGeom prst="rect">
            <a:avLst/>
          </a:prstGeom>
          <a:solidFill>
            <a:srgbClr val="FFFFFF"/>
          </a:solidFill>
          <a:ln w="19050">
            <a:solidFill>
              <a:srgbClr val="2E86AB"/>
            </a:solidFill>
            <a:prstDash val="solid"/>
          </a:ln>
          <a:effectLst>
            <a:outerShdw blurRad="101600" dist="38100" dir="8100000" algn="bl" rotWithShape="0">
              <a:srgbClr val="000000">
                <a:alpha val="12000"/>
              </a:srgbClr>
            </a:outerShdw>
          </a:effectLst>
        </p:spPr>
      </p:sp>
      <p:sp>
        <p:nvSpPr>
          <p:cNvPr id="12" name="Text 10"/>
          <p:cNvSpPr/>
          <p:nvPr/>
        </p:nvSpPr>
        <p:spPr>
          <a:xfrm>
            <a:off x="5577840" y="896112"/>
            <a:ext cx="3154680" cy="347472"/>
          </a:xfrm>
          <a:prstGeom prst="rect">
            <a:avLst/>
          </a:prstGeom>
          <a:noFill/>
          <a:ln/>
        </p:spPr>
        <p:txBody>
          <a:bodyPr wrap="square" rtlCol="0" anchor="ctr"/>
          <a:lstStyle/>
          <a:p>
            <a:pPr marL="0" indent="0">
              <a:buNone/>
            </a:pPr>
            <a:r>
              <a:rPr lang="en-US" sz="1300" b="1" dirty="0">
                <a:solidFill>
                  <a:srgbClr val="2E86AB"/>
                </a:solidFill>
                <a:latin typeface="Georgia" pitchFamily="34" charset="0"/>
                <a:ea typeface="Georgia" pitchFamily="34" charset="-122"/>
                <a:cs typeface="Georgia" pitchFamily="34" charset="-120"/>
              </a:rPr>
              <a:t>Future Work</a:t>
            </a:r>
            <a:endParaRPr lang="en-US" sz="1300" dirty="0"/>
          </a:p>
        </p:txBody>
      </p:sp>
      <p:sp>
        <p:nvSpPr>
          <p:cNvPr id="13" name="Text 11"/>
          <p:cNvSpPr/>
          <p:nvPr/>
        </p:nvSpPr>
        <p:spPr>
          <a:xfrm>
            <a:off x="5577840" y="1353312"/>
            <a:ext cx="3154680" cy="47548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Incorporate temporal dynamics of citation formation</a:t>
            </a:r>
            <a:endParaRPr lang="en-US" sz="950" dirty="0"/>
          </a:p>
        </p:txBody>
      </p:sp>
      <p:sp>
        <p:nvSpPr>
          <p:cNvPr id="14" name="Text 12"/>
          <p:cNvSpPr/>
          <p:nvPr/>
        </p:nvSpPr>
        <p:spPr>
          <a:xfrm>
            <a:off x="5577840" y="1901952"/>
            <a:ext cx="3154680" cy="47548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Test Trust Triangle robustness under alternative reliability definitions</a:t>
            </a:r>
            <a:endParaRPr lang="en-US" sz="950" dirty="0"/>
          </a:p>
        </p:txBody>
      </p:sp>
      <p:sp>
        <p:nvSpPr>
          <p:cNvPr id="15" name="Text 13"/>
          <p:cNvSpPr/>
          <p:nvPr/>
        </p:nvSpPr>
        <p:spPr>
          <a:xfrm>
            <a:off x="5577840" y="2450592"/>
            <a:ext cx="3154680" cy="47548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Compare Edubba network with other archaeological/historical domains</a:t>
            </a:r>
            <a:endParaRPr lang="en-US" sz="950" dirty="0"/>
          </a:p>
        </p:txBody>
      </p:sp>
      <p:sp>
        <p:nvSpPr>
          <p:cNvPr id="16" name="Text 14"/>
          <p:cNvSpPr/>
          <p:nvPr/>
        </p:nvSpPr>
        <p:spPr>
          <a:xfrm>
            <a:off x="5577840" y="2999232"/>
            <a:ext cx="3154680" cy="47548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Expand corpus to include grey literature and monographs</a:t>
            </a:r>
            <a:endParaRPr lang="en-US" sz="950" dirty="0"/>
          </a:p>
        </p:txBody>
      </p:sp>
      <p:sp>
        <p:nvSpPr>
          <p:cNvPr id="17" name="Text 15"/>
          <p:cNvSpPr/>
          <p:nvPr/>
        </p:nvSpPr>
        <p:spPr>
          <a:xfrm>
            <a:off x="5577840" y="3547872"/>
            <a:ext cx="3154680" cy="475488"/>
          </a:xfrm>
          <a:prstGeom prst="rect">
            <a:avLst/>
          </a:prstGeom>
          <a:noFill/>
          <a:ln/>
        </p:spPr>
        <p:txBody>
          <a:bodyPr wrap="square" rtlCol="0" anchor="ctr"/>
          <a:lstStyle/>
          <a:p>
            <a:pPr marL="0" indent="0">
              <a:buNone/>
            </a:pPr>
            <a:endParaRPr lang="en-US" sz="950" dirty="0"/>
          </a:p>
        </p:txBody>
      </p:sp>
      <p:sp>
        <p:nvSpPr>
          <p:cNvPr id="18" name="Text 16"/>
          <p:cNvSpPr/>
          <p:nvPr/>
        </p:nvSpPr>
        <p:spPr>
          <a:xfrm>
            <a:off x="5577840" y="3314702"/>
            <a:ext cx="3154680" cy="555549"/>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 Content analysis alongside structural analysis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6922A"/>
          </a:solidFill>
          <a:ln w="12700">
            <a:solidFill>
              <a:srgbClr val="E6922A"/>
            </a:solidFill>
            <a:prstDash val="solid"/>
          </a:ln>
        </p:spPr>
      </p:sp>
      <p:sp>
        <p:nvSpPr>
          <p:cNvPr id="3" name="Text 1"/>
          <p:cNvSpPr/>
          <p:nvPr/>
        </p:nvSpPr>
        <p:spPr>
          <a:xfrm>
            <a:off x="457200" y="822960"/>
            <a:ext cx="8412480" cy="914400"/>
          </a:xfrm>
          <a:prstGeom prst="rect">
            <a:avLst/>
          </a:prstGeom>
          <a:noFill/>
          <a:ln/>
        </p:spPr>
        <p:txBody>
          <a:bodyPr wrap="square" rtlCol="0" anchor="ctr"/>
          <a:lstStyle/>
          <a:p>
            <a:pPr marL="0" indent="0" algn="l">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4" name="Text 2"/>
          <p:cNvSpPr/>
          <p:nvPr/>
        </p:nvSpPr>
        <p:spPr>
          <a:xfrm>
            <a:off x="457200" y="1783080"/>
            <a:ext cx="8229600" cy="457200"/>
          </a:xfrm>
          <a:prstGeom prst="rect">
            <a:avLst/>
          </a:prstGeom>
          <a:noFill/>
          <a:ln/>
        </p:spPr>
        <p:txBody>
          <a:bodyPr wrap="square" rtlCol="0" anchor="ctr"/>
          <a:lstStyle/>
          <a:p>
            <a:pPr marL="0" indent="0">
              <a:buNone/>
            </a:pPr>
            <a:r>
              <a:rPr lang="en-US" sz="1500" i="1" dirty="0">
                <a:solidFill>
                  <a:srgbClr val="E6922A"/>
                </a:solidFill>
                <a:latin typeface="Georgia" pitchFamily="34" charset="0"/>
                <a:ea typeface="Georgia" pitchFamily="34" charset="-122"/>
                <a:cs typeface="Georgia" pitchFamily="34" charset="-120"/>
              </a:rPr>
              <a:t>Network Citation: Visualising Bibliographic Citation Networks in Edubba Studies</a:t>
            </a:r>
            <a:endParaRPr lang="en-US" sz="1500" dirty="0"/>
          </a:p>
        </p:txBody>
      </p:sp>
      <p:sp>
        <p:nvSpPr>
          <p:cNvPr id="5" name="Shape 3"/>
          <p:cNvSpPr/>
          <p:nvPr/>
        </p:nvSpPr>
        <p:spPr>
          <a:xfrm>
            <a:off x="457200" y="2331720"/>
            <a:ext cx="4114800" cy="36576"/>
          </a:xfrm>
          <a:prstGeom prst="rect">
            <a:avLst/>
          </a:prstGeom>
          <a:solidFill>
            <a:srgbClr val="E6922A"/>
          </a:solidFill>
          <a:ln w="12700">
            <a:solidFill>
              <a:srgbClr val="E6922A"/>
            </a:solidFill>
            <a:prstDash val="solid"/>
          </a:ln>
        </p:spPr>
      </p:sp>
      <p:sp>
        <p:nvSpPr>
          <p:cNvPr id="6" name="Text 4"/>
          <p:cNvSpPr/>
          <p:nvPr/>
        </p:nvSpPr>
        <p:spPr>
          <a:xfrm>
            <a:off x="457200" y="2514600"/>
            <a:ext cx="5029200" cy="274320"/>
          </a:xfrm>
          <a:prstGeom prst="rect">
            <a:avLst/>
          </a:prstGeom>
          <a:noFill/>
          <a:ln/>
        </p:spPr>
        <p:txBody>
          <a:bodyPr wrap="square" rtlCol="0" anchor="ctr"/>
          <a:lstStyle/>
          <a:p>
            <a:pPr marL="0" indent="0">
              <a:buNone/>
            </a:pPr>
            <a:r>
              <a:rPr lang="en-US" sz="1200" b="1" dirty="0">
                <a:solidFill>
                  <a:srgbClr val="D1D5DB"/>
                </a:solidFill>
                <a:latin typeface="Calibri" pitchFamily="34" charset="0"/>
                <a:ea typeface="Calibri" pitchFamily="34" charset="-122"/>
                <a:cs typeface="Calibri" pitchFamily="34" charset="-120"/>
              </a:rPr>
              <a:t>Results Summary:</a:t>
            </a:r>
            <a:endParaRPr lang="en-US" sz="1200" dirty="0"/>
          </a:p>
        </p:txBody>
      </p:sp>
      <p:sp>
        <p:nvSpPr>
          <p:cNvPr id="7" name="Text 5"/>
          <p:cNvSpPr/>
          <p:nvPr/>
        </p:nvSpPr>
        <p:spPr>
          <a:xfrm>
            <a:off x="457200" y="2880360"/>
            <a:ext cx="5029200" cy="301752"/>
          </a:xfrm>
          <a:prstGeom prst="rect">
            <a:avLst/>
          </a:prstGeom>
          <a:noFill/>
          <a:ln/>
        </p:spPr>
        <p:txBody>
          <a:bodyPr wrap="square" rtlCol="0" anchor="ctr"/>
          <a:lstStyle/>
          <a:p>
            <a:pPr marL="0" indent="0">
              <a:buNone/>
            </a:pPr>
            <a:r>
              <a:rPr lang="en-US" sz="1100" dirty="0">
                <a:solidFill>
                  <a:srgbClr val="E74C3C"/>
                </a:solidFill>
                <a:latin typeface="Calibri" pitchFamily="34" charset="0"/>
                <a:ea typeface="Calibri" pitchFamily="34" charset="-122"/>
                <a:cs typeface="Calibri" pitchFamily="34" charset="-120"/>
              </a:rPr>
              <a:t>H1  NOT CONFIRMED — Not hierarchical (79.6% peripheral)</a:t>
            </a:r>
            <a:endParaRPr lang="en-US" sz="1100" dirty="0"/>
          </a:p>
        </p:txBody>
      </p:sp>
      <p:sp>
        <p:nvSpPr>
          <p:cNvPr id="8" name="Text 6"/>
          <p:cNvSpPr/>
          <p:nvPr/>
        </p:nvSpPr>
        <p:spPr>
          <a:xfrm>
            <a:off x="457200" y="3218688"/>
            <a:ext cx="5029200" cy="301752"/>
          </a:xfrm>
          <a:prstGeom prst="rect">
            <a:avLst/>
          </a:prstGeom>
          <a:noFill/>
          <a:ln/>
        </p:spPr>
        <p:txBody>
          <a:bodyPr wrap="square" rtlCol="0" anchor="ctr"/>
          <a:lstStyle/>
          <a:p>
            <a:pPr marL="0" indent="0">
              <a:buNone/>
            </a:pPr>
            <a:r>
              <a:rPr lang="en-US" sz="1100" dirty="0">
                <a:solidFill>
                  <a:srgbClr val="27AE60"/>
                </a:solidFill>
                <a:latin typeface="Calibri" pitchFamily="34" charset="0"/>
                <a:ea typeface="Calibri" pitchFamily="34" charset="-122"/>
                <a:cs typeface="Calibri" pitchFamily="34" charset="-120"/>
              </a:rPr>
              <a:t>H2  CONFIRMED — Primary sources structurally isolated</a:t>
            </a:r>
            <a:endParaRPr lang="en-US" sz="1100" dirty="0"/>
          </a:p>
        </p:txBody>
      </p:sp>
      <p:sp>
        <p:nvSpPr>
          <p:cNvPr id="9" name="Text 7"/>
          <p:cNvSpPr/>
          <p:nvPr/>
        </p:nvSpPr>
        <p:spPr>
          <a:xfrm>
            <a:off x="457200" y="3557016"/>
            <a:ext cx="5029200" cy="301752"/>
          </a:xfrm>
          <a:prstGeom prst="rect">
            <a:avLst/>
          </a:prstGeom>
          <a:noFill/>
          <a:ln/>
        </p:spPr>
        <p:txBody>
          <a:bodyPr wrap="square" rtlCol="0" anchor="ctr"/>
          <a:lstStyle/>
          <a:p>
            <a:pPr marL="0" indent="0">
              <a:buNone/>
            </a:pPr>
            <a:r>
              <a:rPr lang="en-US" sz="1100" dirty="0">
                <a:solidFill>
                  <a:srgbClr val="27AE60"/>
                </a:solidFill>
                <a:latin typeface="Calibri" pitchFamily="34" charset="0"/>
                <a:ea typeface="Calibri" pitchFamily="34" charset="-122"/>
                <a:cs typeface="Calibri" pitchFamily="34" charset="-120"/>
              </a:rPr>
              <a:t>H3  CONFIRMED — 37 nodes (1.8%) = entire bottleneck</a:t>
            </a:r>
            <a:endParaRPr lang="en-US" sz="1100" dirty="0"/>
          </a:p>
        </p:txBody>
      </p:sp>
      <p:sp>
        <p:nvSpPr>
          <p:cNvPr id="10" name="Text 8"/>
          <p:cNvSpPr/>
          <p:nvPr/>
        </p:nvSpPr>
        <p:spPr>
          <a:xfrm>
            <a:off x="457200" y="3895344"/>
            <a:ext cx="5029200" cy="301752"/>
          </a:xfrm>
          <a:prstGeom prst="rect">
            <a:avLst/>
          </a:prstGeom>
          <a:noFill/>
          <a:ln/>
        </p:spPr>
        <p:txBody>
          <a:bodyPr wrap="square" rtlCol="0" anchor="ctr"/>
          <a:lstStyle/>
          <a:p>
            <a:pPr marL="0" indent="0">
              <a:buNone/>
            </a:pPr>
            <a:r>
              <a:rPr lang="en-US" sz="1100" dirty="0">
                <a:solidFill>
                  <a:srgbClr val="27AE60"/>
                </a:solidFill>
                <a:latin typeface="Calibri" pitchFamily="34" charset="0"/>
                <a:ea typeface="Calibri" pitchFamily="34" charset="-122"/>
                <a:cs typeface="Calibri" pitchFamily="34" charset="-120"/>
              </a:rPr>
              <a:t>H4  CONFIRMED* — Eigenvector in Step 3, not Step 1</a:t>
            </a:r>
            <a:endParaRPr lang="en-US" sz="1100" dirty="0"/>
          </a:p>
        </p:txBody>
      </p:sp>
      <p:sp>
        <p:nvSpPr>
          <p:cNvPr id="11" name="Text 9"/>
          <p:cNvSpPr/>
          <p:nvPr/>
        </p:nvSpPr>
        <p:spPr>
          <a:xfrm>
            <a:off x="457200" y="4233672"/>
            <a:ext cx="5029200" cy="301752"/>
          </a:xfrm>
          <a:prstGeom prst="rect">
            <a:avLst/>
          </a:prstGeom>
          <a:noFill/>
          <a:ln/>
        </p:spPr>
        <p:txBody>
          <a:bodyPr wrap="square" rtlCol="0" anchor="ctr"/>
          <a:lstStyle/>
          <a:p>
            <a:pPr marL="0" indent="0">
              <a:buNone/>
            </a:pPr>
            <a:r>
              <a:rPr lang="en-US" sz="1100" dirty="0">
                <a:solidFill>
                  <a:srgbClr val="27AE60"/>
                </a:solidFill>
                <a:latin typeface="Calibri" pitchFamily="34" charset="0"/>
                <a:ea typeface="Calibri" pitchFamily="34" charset="-122"/>
                <a:cs typeface="Calibri" pitchFamily="34" charset="-120"/>
              </a:rPr>
              <a:t>H5  CONFIRMED — Only 2 reliable sources, both Step 2</a:t>
            </a:r>
            <a:endParaRPr lang="en-US" sz="1100" dirty="0"/>
          </a:p>
        </p:txBody>
      </p:sp>
      <p:sp>
        <p:nvSpPr>
          <p:cNvPr id="12" name="Shape 10"/>
          <p:cNvSpPr/>
          <p:nvPr/>
        </p:nvSpPr>
        <p:spPr>
          <a:xfrm>
            <a:off x="5943600" y="2377440"/>
            <a:ext cx="2926080" cy="2468880"/>
          </a:xfrm>
          <a:prstGeom prst="rect">
            <a:avLst/>
          </a:prstGeom>
          <a:solidFill>
            <a:srgbClr val="242B3E"/>
          </a:solidFill>
          <a:ln w="12700">
            <a:solidFill>
              <a:srgbClr val="E6922A"/>
            </a:solidFill>
            <a:prstDash val="solid"/>
          </a:ln>
        </p:spPr>
      </p:sp>
      <p:sp>
        <p:nvSpPr>
          <p:cNvPr id="13" name="Text 11"/>
          <p:cNvSpPr/>
          <p:nvPr/>
        </p:nvSpPr>
        <p:spPr>
          <a:xfrm>
            <a:off x="6080760" y="2487168"/>
            <a:ext cx="2651760" cy="320040"/>
          </a:xfrm>
          <a:prstGeom prst="rect">
            <a:avLst/>
          </a:prstGeom>
          <a:noFill/>
          <a:ln/>
        </p:spPr>
        <p:txBody>
          <a:bodyPr wrap="square" rtlCol="0" anchor="ctr"/>
          <a:lstStyle/>
          <a:p>
            <a:pPr marL="0" indent="0">
              <a:buNone/>
            </a:pPr>
            <a:r>
              <a:rPr lang="en-US" sz="1100" b="1" dirty="0">
                <a:solidFill>
                  <a:srgbClr val="E6922A"/>
                </a:solidFill>
                <a:latin typeface="Georgia" pitchFamily="34" charset="0"/>
                <a:ea typeface="Georgia" pitchFamily="34" charset="-122"/>
                <a:cs typeface="Georgia" pitchFamily="34" charset="-120"/>
              </a:rPr>
              <a:t>Data &amp; Code</a:t>
            </a:r>
            <a:endParaRPr lang="en-US" sz="1100" dirty="0"/>
          </a:p>
        </p:txBody>
      </p:sp>
      <p:sp>
        <p:nvSpPr>
          <p:cNvPr id="14" name="Text 12"/>
          <p:cNvSpPr/>
          <p:nvPr/>
        </p:nvSpPr>
        <p:spPr>
          <a:xfrm>
            <a:off x="6080760" y="2834640"/>
            <a:ext cx="2651760" cy="1737360"/>
          </a:xfrm>
          <a:prstGeom prst="rect">
            <a:avLst/>
          </a:prstGeom>
          <a:noFill/>
          <a:ln/>
        </p:spPr>
        <p:txBody>
          <a:bodyPr wrap="square" rtlCol="0" anchor="ctr"/>
          <a:lstStyle/>
          <a:p>
            <a:pPr marL="0" indent="0">
              <a:buNone/>
            </a:pPr>
            <a:r>
              <a:rPr lang="en-US" sz="850" dirty="0">
                <a:solidFill>
                  <a:srgbClr val="D1D5DB"/>
                </a:solidFill>
                <a:latin typeface="Calibri" pitchFamily="34" charset="0"/>
                <a:ea typeface="Calibri" pitchFamily="34" charset="-122"/>
                <a:cs typeface="Calibri" pitchFamily="34" charset="-120"/>
                <a:hlinkClick r:id="rId3"/>
              </a:rPr>
              <a:t>github.com/AimBtlv/</a:t>
            </a:r>
            <a:endParaRPr lang="en-US" sz="850" dirty="0">
              <a:hlinkClick r:id="rId3"/>
            </a:endParaRPr>
          </a:p>
          <a:p>
            <a:pPr marL="0" indent="0">
              <a:buNone/>
            </a:pPr>
            <a:r>
              <a:rPr lang="en-US" sz="850" dirty="0">
                <a:solidFill>
                  <a:srgbClr val="D1D5DB"/>
                </a:solidFill>
                <a:latin typeface="Calibri" pitchFamily="34" charset="0"/>
                <a:ea typeface="Calibri" pitchFamily="34" charset="-122"/>
                <a:cs typeface="Calibri" pitchFamily="34" charset="-120"/>
                <a:hlinkClick r:id="rId3"/>
              </a:rPr>
              <a:t>research-NetworkCitation_Edduba</a:t>
            </a:r>
            <a:endParaRPr lang="en-US" sz="850" dirty="0"/>
          </a:p>
          <a:p>
            <a:pPr marL="0" indent="0">
              <a:buNone/>
            </a:pPr>
            <a:endParaRPr lang="en-US" sz="850" dirty="0"/>
          </a:p>
          <a:p>
            <a:pPr marL="0" indent="0">
              <a:buNone/>
            </a:pPr>
            <a:r>
              <a:rPr lang="en-US" sz="850" dirty="0">
                <a:solidFill>
                  <a:srgbClr val="D1D5DB"/>
                </a:solidFill>
                <a:latin typeface="Calibri" pitchFamily="34" charset="0"/>
                <a:ea typeface="Calibri" pitchFamily="34" charset="-122"/>
                <a:cs typeface="Calibri" pitchFamily="34" charset="-120"/>
              </a:rPr>
              <a:t>Folder: 8-output_Modul2</a:t>
            </a:r>
            <a:endParaRPr lang="en-US" sz="850" dirty="0"/>
          </a:p>
          <a:p>
            <a:pPr marL="0" indent="0">
              <a:buNone/>
            </a:pPr>
            <a:endParaRPr lang="en-US" sz="850" dirty="0"/>
          </a:p>
          <a:p>
            <a:pPr marL="0" indent="0">
              <a:buNone/>
            </a:pPr>
            <a:r>
              <a:rPr lang="en-US" sz="850" dirty="0">
                <a:solidFill>
                  <a:srgbClr val="D1D5DB"/>
                </a:solidFill>
                <a:latin typeface="Calibri" pitchFamily="34" charset="0"/>
                <a:ea typeface="Calibri" pitchFamily="34" charset="-122"/>
                <a:cs typeface="Calibri" pitchFamily="34" charset="-120"/>
              </a:rPr>
              <a:t>Tools: Python · igraph · AnyStyle</a:t>
            </a:r>
            <a:endParaRPr lang="en-US" sz="850" dirty="0"/>
          </a:p>
          <a:p>
            <a:pPr marL="0" indent="0">
              <a:buNone/>
            </a:pPr>
            <a:r>
              <a:rPr lang="en-US" sz="850" dirty="0">
                <a:solidFill>
                  <a:srgbClr val="D1D5DB"/>
                </a:solidFill>
                <a:latin typeface="Calibri" pitchFamily="34" charset="0"/>
                <a:ea typeface="Calibri" pitchFamily="34" charset="-122"/>
                <a:cs typeface="Calibri" pitchFamily="34" charset="-120"/>
              </a:rPr>
              <a:t>pdfplumber · Tableau</a:t>
            </a:r>
            <a:endParaRPr lang="en-US" sz="850" dirty="0"/>
          </a:p>
        </p:txBody>
      </p:sp>
      <p:sp>
        <p:nvSpPr>
          <p:cNvPr id="15" name="Text 13"/>
          <p:cNvSpPr/>
          <p:nvPr/>
        </p:nvSpPr>
        <p:spPr>
          <a:xfrm>
            <a:off x="457200" y="4709160"/>
            <a:ext cx="8412480" cy="256032"/>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Aim Batalova · Ca'Foscari University of Venice · DAIS · May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2382</Words>
  <Application>Microsoft Macintosh PowerPoint</Application>
  <PresentationFormat>On-screen Show (16:9)</PresentationFormat>
  <Paragraphs>312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Citation: Visualising Bibliographic Citation Networks in Edubba Studies</dc:title>
  <dc:subject>PptxGenJS Presentation</dc:subject>
  <dc:creator>Aim Batalova</dc:creator>
  <cp:lastModifiedBy>Microsoft Office User</cp:lastModifiedBy>
  <cp:revision>17</cp:revision>
  <dcterms:created xsi:type="dcterms:W3CDTF">2026-05-16T08:37:14Z</dcterms:created>
  <dcterms:modified xsi:type="dcterms:W3CDTF">2026-05-16T12:14:03Z</dcterms:modified>
</cp:coreProperties>
</file>